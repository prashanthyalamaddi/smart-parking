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judges and faculty members, we are Team 36 from CSM - AIML, Section AIML - F, representing Malla Reddy Vishwavidyapeeth Technical Campus. Today, we present our Smart Parking Management System, an end-to-end IoT and MERN platform designed to solve urban parking bottlenecks through real-time bay telemetry, automated FASTag billing, and dynamic municipal fleet allocation.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Urban parking search is an invisible crisis. Research indicates that searching for parking accounts for up to 30% of downtown traffic congestion. Drivers spend an average of 31 minutes hunting for vacant spots, burning fuel and blocking arterial roads. In our campus baseline assessment across 48 bays, uncoordinated arrivals caused severe gate queues exceeding 15 minutes while inner stalls remained invisible.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innovation bridges physical hardware with reactive web architecture. We combine ultrasonic sensors and computer-vision ANPR with a full-stack MERN telemetry twin. Arriving vehicles are algorithmically routed to the nearest available stall, while our integration with RFID FASTag and Bharat UPI reduces gate transit dwell time to under 1.8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four-stage pipeline works seamlessly: Stage 1 captures sensor telemetry, FASTag transponder IDs, and HSRP plates. Stage 2 validates credentials and dispatches async workers via our Express.js gateway. Stage 3 calculates optimal nearest-bay allocation and commits atomic BSON document locks in MongoDB Atlas. Finally, Stage 4 verifies exit clearance, deducts parking tariffs via FASTag wallet, and issues digital GST invoices.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hood, our MERN architecture provides enterprise-grade guarantees. We use a 2D Geospatial B-Tree for O(log N) nearest-bay search, MongoDB findAndModify conditional operations for O(1) atomic concurrency locks, and Socket.io for low-latency push broadcasts across active operator terminals with zero HTTP polling overhead.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live prototype console deployed for the Malla Reddy Campus 48-stall facility. In our testing, occupancy efficiency jumped from 65% to 98%, average search latency dropped from 31 minutes to 3.8 minutes, and we processed over 42,500 simulated transactions. This saves an estimated 1,420 liters of fuel and 3.2 tons of CO2 every month.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 Phase 2 introduces edge AI cameras with YOLOv8 to eliminate per-bay ultrasonic hardware costs, along with dynamic LED aisle displays. In Phase 3, our architecture can integrate directly with Hyderabad Smart City's Integrated Command and Control Centre to power city-wide municipal mobility.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02632"/>
        </a:solidFill>
        <a:effectLst/>
      </p:bgPr>
    </p:bg>
    <p:spTree>
      <p:nvGrpSpPr>
        <p:cNvPr id="1" name=""/>
        <p:cNvGrpSpPr/>
        <p:nvPr/>
      </p:nvGrpSpPr>
      <p:grpSpPr/>
      <p:sp>
        <p:nvSpPr>
          <p:cNvPr id="2" name="Rounded Rectangle 1"/>
          <p:cNvSpPr/>
          <p:nvPr/>
        </p:nvSpPr>
        <p:spPr>
          <a:xfrm>
            <a:off x="731520" y="384048"/>
            <a:ext cx="2560320" cy="256032"/>
          </a:xfrm>
          <a:prstGeom prst="roundRect">
            <a:avLst/>
          </a:prstGeom>
          <a:solidFill>
            <a:srgbClr val="28303F"/>
          </a:solidFill>
          <a:ln w="12700">
            <a:solidFill>
              <a:srgbClr val="4B5A7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defRPr sz="1000" b="1">
                <a:solidFill>
                  <a:srgbClr val="F4E8D2"/>
                </a:solidFill>
                <a:latin typeface="Calibri"/>
              </a:defRPr>
            </a:pPr>
            <a:r>
              <a:t>MERN HACKATHON | PROBLEM 36</a:t>
            </a:r>
          </a:p>
        </p:txBody>
      </p:sp>
      <p:sp>
        <p:nvSpPr>
          <p:cNvPr id="3" name="TextBox 2"/>
          <p:cNvSpPr txBox="1"/>
          <p:nvPr/>
        </p:nvSpPr>
        <p:spPr>
          <a:xfrm>
            <a:off x="731520" y="676656"/>
            <a:ext cx="8412480" cy="475488"/>
          </a:xfrm>
          <a:prstGeom prst="rect">
            <a:avLst/>
          </a:prstGeom>
          <a:noFill/>
        </p:spPr>
        <p:txBody>
          <a:bodyPr wrap="square" lIns="0" tIns="0" rIns="0" bIns="0">
            <a:spAutoFit/>
          </a:bodyPr>
          <a:lstStyle/>
          <a:p>
            <a:pPr>
              <a:defRPr sz="2200" b="1">
                <a:solidFill>
                  <a:srgbClr val="F4E8D2"/>
                </a:solidFill>
                <a:latin typeface="Arial"/>
              </a:defRPr>
            </a:pPr>
            <a:r>
              <a:t>Smart Parking Management System</a:t>
            </a:r>
          </a:p>
        </p:txBody>
      </p:sp>
      <p:sp>
        <p:nvSpPr>
          <p:cNvPr id="4" name="TextBox 3"/>
          <p:cNvSpPr txBox="1"/>
          <p:nvPr/>
        </p:nvSpPr>
        <p:spPr>
          <a:xfrm>
            <a:off x="731520" y="1170432"/>
            <a:ext cx="8412480" cy="329184"/>
          </a:xfrm>
          <a:prstGeom prst="rect">
            <a:avLst/>
          </a:prstGeom>
          <a:noFill/>
        </p:spPr>
        <p:txBody>
          <a:bodyPr wrap="square" lIns="0" tIns="0" rIns="0" bIns="0">
            <a:spAutoFit/>
          </a:bodyPr>
          <a:lstStyle/>
          <a:p>
            <a:pPr>
              <a:defRPr sz="1150">
                <a:solidFill>
                  <a:srgbClr val="C4B9A8"/>
                </a:solidFill>
                <a:latin typeface="Calibri"/>
              </a:defRPr>
            </a:pPr>
            <a:r>
              <a:t>Real-time bay telemetry, automated FASTag billing, and dynamic municipal fleet allocation.</a:t>
            </a:r>
          </a:p>
        </p:txBody>
      </p:sp>
      <p:sp>
        <p:nvSpPr>
          <p:cNvPr id="5" name="Rounded Rectangle 4"/>
          <p:cNvSpPr/>
          <p:nvPr/>
        </p:nvSpPr>
        <p:spPr>
          <a:xfrm>
            <a:off x="9281160" y="329184"/>
            <a:ext cx="2194560" cy="1115568"/>
          </a:xfrm>
          <a:prstGeom prst="roundRect">
            <a:avLst/>
          </a:prstGeom>
          <a:solidFill>
            <a:srgbClr val="FFFFFF"/>
          </a:solidFill>
          <a:ln w="19050">
            <a:solidFill>
              <a:srgbClr val="F4E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9345168" y="365760"/>
            <a:ext cx="2066543" cy="1027645"/>
          </a:xfrm>
          <a:prstGeom prst="rect">
            <a:avLst/>
          </a:prstGeom>
        </p:spPr>
      </p:pic>
      <p:sp>
        <p:nvSpPr>
          <p:cNvPr id="7" name="Rectangle 6"/>
          <p:cNvSpPr/>
          <p:nvPr/>
        </p:nvSpPr>
        <p:spPr>
          <a:xfrm>
            <a:off x="731520" y="1536192"/>
            <a:ext cx="10728655" cy="13716"/>
          </a:xfrm>
          <a:prstGeom prst="rect">
            <a:avLst/>
          </a:prstGeom>
          <a:solidFill>
            <a:srgbClr val="384458"/>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719072"/>
            <a:ext cx="2542032" cy="1572768"/>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 y="1719072"/>
            <a:ext cx="2505456" cy="36576"/>
          </a:xfrm>
          <a:prstGeom prst="rect">
            <a:avLst/>
          </a:prstGeom>
          <a:solidFill>
            <a:srgbClr val="F4E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856232"/>
            <a:ext cx="2212848" cy="201168"/>
          </a:xfrm>
          <a:prstGeom prst="rect">
            <a:avLst/>
          </a:prstGeom>
          <a:noFill/>
        </p:spPr>
        <p:txBody>
          <a:bodyPr wrap="none" lIns="0" tIns="0" rIns="0" bIns="0">
            <a:spAutoFit/>
          </a:bodyPr>
          <a:lstStyle/>
          <a:p>
            <a:pPr>
              <a:defRPr sz="950" b="1">
                <a:solidFill>
                  <a:srgbClr val="F4E8D2"/>
                </a:solidFill>
                <a:latin typeface="Calibri"/>
              </a:defRPr>
            </a:pPr>
            <a:r>
              <a:t>PROBLEM DOMAIN</a:t>
            </a:r>
          </a:p>
        </p:txBody>
      </p:sp>
      <p:sp>
        <p:nvSpPr>
          <p:cNvPr id="11" name="TextBox 10"/>
          <p:cNvSpPr txBox="1"/>
          <p:nvPr/>
        </p:nvSpPr>
        <p:spPr>
          <a:xfrm>
            <a:off x="896112" y="2121408"/>
            <a:ext cx="2212848" cy="420624"/>
          </a:xfrm>
          <a:prstGeom prst="rect">
            <a:avLst/>
          </a:prstGeom>
          <a:noFill/>
        </p:spPr>
        <p:txBody>
          <a:bodyPr wrap="square" lIns="0" tIns="0" rIns="0" bIns="0">
            <a:spAutoFit/>
          </a:bodyPr>
          <a:lstStyle/>
          <a:p>
            <a:pPr>
              <a:defRPr sz="1300" b="1">
                <a:solidFill>
                  <a:srgbClr val="F4E8D2"/>
                </a:solidFill>
                <a:latin typeface="Arial"/>
              </a:defRPr>
            </a:pPr>
            <a:r>
              <a:t>Smart City &amp; Transport</a:t>
            </a:r>
          </a:p>
        </p:txBody>
      </p:sp>
      <p:sp>
        <p:nvSpPr>
          <p:cNvPr id="12" name="TextBox 11"/>
          <p:cNvSpPr txBox="1"/>
          <p:nvPr/>
        </p:nvSpPr>
        <p:spPr>
          <a:xfrm>
            <a:off x="896112" y="2596896"/>
            <a:ext cx="2212848" cy="548640"/>
          </a:xfrm>
          <a:prstGeom prst="rect">
            <a:avLst/>
          </a:prstGeom>
          <a:noFill/>
        </p:spPr>
        <p:txBody>
          <a:bodyPr wrap="square" lIns="0" tIns="0" rIns="0" bIns="0">
            <a:spAutoFit/>
          </a:bodyPr>
          <a:lstStyle/>
          <a:p>
            <a:pPr>
              <a:defRPr sz="1050">
                <a:solidFill>
                  <a:srgbClr val="C4B9A8"/>
                </a:solidFill>
                <a:latin typeface="Calibri"/>
              </a:defRPr>
            </a:pPr>
            <a:r>
              <a:t>Intelligent parking allocation and transit management</a:t>
            </a:r>
          </a:p>
        </p:txBody>
      </p:sp>
      <p:sp>
        <p:nvSpPr>
          <p:cNvPr id="13" name="Rounded Rectangle 12"/>
          <p:cNvSpPr/>
          <p:nvPr/>
        </p:nvSpPr>
        <p:spPr>
          <a:xfrm>
            <a:off x="3456432" y="1719072"/>
            <a:ext cx="2542032" cy="1572768"/>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21024" y="1856232"/>
            <a:ext cx="2212848" cy="201168"/>
          </a:xfrm>
          <a:prstGeom prst="rect">
            <a:avLst/>
          </a:prstGeom>
          <a:noFill/>
        </p:spPr>
        <p:txBody>
          <a:bodyPr wrap="none" lIns="0" tIns="0" rIns="0" bIns="0">
            <a:spAutoFit/>
          </a:bodyPr>
          <a:lstStyle/>
          <a:p>
            <a:pPr>
              <a:defRPr sz="950" b="1">
                <a:solidFill>
                  <a:srgbClr val="F4E8D2"/>
                </a:solidFill>
                <a:latin typeface="Calibri"/>
              </a:defRPr>
            </a:pPr>
            <a:r>
              <a:t>BRANCH &amp; SECTION</a:t>
            </a:r>
          </a:p>
        </p:txBody>
      </p:sp>
      <p:sp>
        <p:nvSpPr>
          <p:cNvPr id="15" name="TextBox 14"/>
          <p:cNvSpPr txBox="1"/>
          <p:nvPr/>
        </p:nvSpPr>
        <p:spPr>
          <a:xfrm>
            <a:off x="3621024" y="2121408"/>
            <a:ext cx="2212848" cy="420624"/>
          </a:xfrm>
          <a:prstGeom prst="rect">
            <a:avLst/>
          </a:prstGeom>
          <a:noFill/>
        </p:spPr>
        <p:txBody>
          <a:bodyPr wrap="square" lIns="0" tIns="0" rIns="0" bIns="0">
            <a:spAutoFit/>
          </a:bodyPr>
          <a:lstStyle/>
          <a:p>
            <a:pPr>
              <a:defRPr sz="1300" b="1">
                <a:solidFill>
                  <a:srgbClr val="F4E8D2"/>
                </a:solidFill>
                <a:latin typeface="Arial"/>
              </a:defRPr>
            </a:pPr>
            <a:r>
              <a:t>CSM - AIML | Section: AIML - F</a:t>
            </a:r>
          </a:p>
        </p:txBody>
      </p:sp>
      <p:sp>
        <p:nvSpPr>
          <p:cNvPr id="16" name="TextBox 15"/>
          <p:cNvSpPr txBox="1"/>
          <p:nvPr/>
        </p:nvSpPr>
        <p:spPr>
          <a:xfrm>
            <a:off x="3621024" y="2596896"/>
            <a:ext cx="2212848" cy="548640"/>
          </a:xfrm>
          <a:prstGeom prst="rect">
            <a:avLst/>
          </a:prstGeom>
          <a:noFill/>
        </p:spPr>
        <p:txBody>
          <a:bodyPr wrap="square" lIns="0" tIns="0" rIns="0" bIns="0">
            <a:spAutoFit/>
          </a:bodyPr>
          <a:lstStyle/>
          <a:p>
            <a:pPr>
              <a:defRPr sz="1050">
                <a:solidFill>
                  <a:srgbClr val="C4B9A8"/>
                </a:solidFill>
                <a:latin typeface="Calibri"/>
              </a:defRPr>
            </a:pPr>
            <a:r>
              <a:t>Department of Computer Science &amp; AIML</a:t>
            </a:r>
          </a:p>
        </p:txBody>
      </p:sp>
      <p:sp>
        <p:nvSpPr>
          <p:cNvPr id="17" name="Rounded Rectangle 16"/>
          <p:cNvSpPr/>
          <p:nvPr/>
        </p:nvSpPr>
        <p:spPr>
          <a:xfrm>
            <a:off x="6181344" y="1719072"/>
            <a:ext cx="2542032" cy="1572768"/>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5936" y="1856232"/>
            <a:ext cx="2212848" cy="201168"/>
          </a:xfrm>
          <a:prstGeom prst="rect">
            <a:avLst/>
          </a:prstGeom>
          <a:noFill/>
        </p:spPr>
        <p:txBody>
          <a:bodyPr wrap="none" lIns="0" tIns="0" rIns="0" bIns="0">
            <a:spAutoFit/>
          </a:bodyPr>
          <a:lstStyle/>
          <a:p>
            <a:pPr>
              <a:defRPr sz="950" b="1">
                <a:solidFill>
                  <a:srgbClr val="F4E8D2"/>
                </a:solidFill>
                <a:latin typeface="Calibri"/>
              </a:defRPr>
            </a:pPr>
            <a:r>
              <a:t>INSTITUTION</a:t>
            </a:r>
          </a:p>
        </p:txBody>
      </p:sp>
      <p:sp>
        <p:nvSpPr>
          <p:cNvPr id="19" name="TextBox 18"/>
          <p:cNvSpPr txBox="1"/>
          <p:nvPr/>
        </p:nvSpPr>
        <p:spPr>
          <a:xfrm>
            <a:off x="6345936" y="2121408"/>
            <a:ext cx="2212848" cy="420624"/>
          </a:xfrm>
          <a:prstGeom prst="rect">
            <a:avLst/>
          </a:prstGeom>
          <a:noFill/>
        </p:spPr>
        <p:txBody>
          <a:bodyPr wrap="square" lIns="0" tIns="0" rIns="0" bIns="0">
            <a:spAutoFit/>
          </a:bodyPr>
          <a:lstStyle/>
          <a:p>
            <a:pPr>
              <a:defRPr sz="1300" b="1">
                <a:solidFill>
                  <a:srgbClr val="F4E8D2"/>
                </a:solidFill>
                <a:latin typeface="Arial"/>
              </a:defRPr>
            </a:pPr>
            <a:r>
              <a:t>Malla Reddy Vishwavidyapeeth</a:t>
            </a:r>
          </a:p>
        </p:txBody>
      </p:sp>
      <p:sp>
        <p:nvSpPr>
          <p:cNvPr id="20" name="TextBox 19"/>
          <p:cNvSpPr txBox="1"/>
          <p:nvPr/>
        </p:nvSpPr>
        <p:spPr>
          <a:xfrm>
            <a:off x="6345936" y="2596896"/>
            <a:ext cx="2212848" cy="548640"/>
          </a:xfrm>
          <a:prstGeom prst="rect">
            <a:avLst/>
          </a:prstGeom>
          <a:noFill/>
        </p:spPr>
        <p:txBody>
          <a:bodyPr wrap="square" lIns="0" tIns="0" rIns="0" bIns="0">
            <a:spAutoFit/>
          </a:bodyPr>
          <a:lstStyle/>
          <a:p>
            <a:pPr>
              <a:defRPr sz="1050">
                <a:solidFill>
                  <a:srgbClr val="C4B9A8"/>
                </a:solidFill>
                <a:latin typeface="Calibri"/>
              </a:defRPr>
            </a:pPr>
            <a:r>
              <a:t>Technical Campus, Hyderabad, Telangana 500100</a:t>
            </a:r>
          </a:p>
        </p:txBody>
      </p:sp>
      <p:sp>
        <p:nvSpPr>
          <p:cNvPr id="21" name="Rounded Rectangle 20"/>
          <p:cNvSpPr/>
          <p:nvPr/>
        </p:nvSpPr>
        <p:spPr>
          <a:xfrm>
            <a:off x="8906256" y="1719072"/>
            <a:ext cx="2542032" cy="1572768"/>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70848" y="1856232"/>
            <a:ext cx="2212848" cy="201168"/>
          </a:xfrm>
          <a:prstGeom prst="rect">
            <a:avLst/>
          </a:prstGeom>
          <a:noFill/>
        </p:spPr>
        <p:txBody>
          <a:bodyPr wrap="none" lIns="0" tIns="0" rIns="0" bIns="0">
            <a:spAutoFit/>
          </a:bodyPr>
          <a:lstStyle/>
          <a:p>
            <a:pPr>
              <a:defRPr sz="950" b="1">
                <a:solidFill>
                  <a:srgbClr val="F4E8D2"/>
                </a:solidFill>
                <a:latin typeface="Calibri"/>
              </a:defRPr>
            </a:pPr>
            <a:r>
              <a:t>CORE STACK</a:t>
            </a:r>
          </a:p>
        </p:txBody>
      </p:sp>
      <p:sp>
        <p:nvSpPr>
          <p:cNvPr id="23" name="TextBox 22"/>
          <p:cNvSpPr txBox="1"/>
          <p:nvPr/>
        </p:nvSpPr>
        <p:spPr>
          <a:xfrm>
            <a:off x="9070848" y="2121408"/>
            <a:ext cx="2212848" cy="420624"/>
          </a:xfrm>
          <a:prstGeom prst="rect">
            <a:avLst/>
          </a:prstGeom>
          <a:noFill/>
        </p:spPr>
        <p:txBody>
          <a:bodyPr wrap="square" lIns="0" tIns="0" rIns="0" bIns="0">
            <a:spAutoFit/>
          </a:bodyPr>
          <a:lstStyle/>
          <a:p>
            <a:pPr>
              <a:defRPr sz="1300" b="1">
                <a:solidFill>
                  <a:srgbClr val="F4E8D2"/>
                </a:solidFill>
                <a:latin typeface="Arial"/>
              </a:defRPr>
            </a:pPr>
            <a:r>
              <a:t>MERN Stack + IoT Telemetry</a:t>
            </a:r>
          </a:p>
        </p:txBody>
      </p:sp>
      <p:sp>
        <p:nvSpPr>
          <p:cNvPr id="24" name="TextBox 23"/>
          <p:cNvSpPr txBox="1"/>
          <p:nvPr/>
        </p:nvSpPr>
        <p:spPr>
          <a:xfrm>
            <a:off x="9070848" y="2596896"/>
            <a:ext cx="2212848" cy="548640"/>
          </a:xfrm>
          <a:prstGeom prst="rect">
            <a:avLst/>
          </a:prstGeom>
          <a:noFill/>
        </p:spPr>
        <p:txBody>
          <a:bodyPr wrap="square" lIns="0" tIns="0" rIns="0" bIns="0">
            <a:spAutoFit/>
          </a:bodyPr>
          <a:lstStyle/>
          <a:p>
            <a:pPr>
              <a:defRPr sz="1050">
                <a:solidFill>
                  <a:srgbClr val="C4B9A8"/>
                </a:solidFill>
                <a:latin typeface="Calibri"/>
              </a:defRPr>
            </a:pPr>
            <a:r>
              <a:t>MongoDB, Express.js, React 19, Node.js</a:t>
            </a:r>
          </a:p>
        </p:txBody>
      </p:sp>
      <p:sp>
        <p:nvSpPr>
          <p:cNvPr id="25" name="TextBox 24"/>
          <p:cNvSpPr txBox="1"/>
          <p:nvPr/>
        </p:nvSpPr>
        <p:spPr>
          <a:xfrm>
            <a:off x="731520" y="3456432"/>
            <a:ext cx="10728655" cy="274320"/>
          </a:xfrm>
          <a:prstGeom prst="rect">
            <a:avLst/>
          </a:prstGeom>
          <a:noFill/>
        </p:spPr>
        <p:txBody>
          <a:bodyPr wrap="none" lIns="0" tIns="0" rIns="0" bIns="0">
            <a:spAutoFit/>
          </a:bodyPr>
          <a:lstStyle/>
          <a:p>
            <a:pPr>
              <a:defRPr sz="1050" b="1">
                <a:solidFill>
                  <a:srgbClr val="C4B9A8"/>
                </a:solidFill>
                <a:latin typeface="Calibri"/>
              </a:defRPr>
            </a:pPr>
            <a:r>
              <a:t>PROJECT DEVELOPMENT TEAM</a:t>
            </a:r>
          </a:p>
        </p:txBody>
      </p:sp>
      <p:sp>
        <p:nvSpPr>
          <p:cNvPr id="26" name="Rounded Rectangle 25"/>
          <p:cNvSpPr/>
          <p:nvPr/>
        </p:nvSpPr>
        <p:spPr>
          <a:xfrm>
            <a:off x="731520" y="3785615"/>
            <a:ext cx="2542032" cy="2194560"/>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9808" y="3785615"/>
            <a:ext cx="2505456" cy="36576"/>
          </a:xfrm>
          <a:prstGeom prst="rect">
            <a:avLst/>
          </a:prstGeom>
          <a:solidFill>
            <a:srgbClr val="F4E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96112" y="3968495"/>
            <a:ext cx="1188720" cy="219456"/>
          </a:xfrm>
          <a:prstGeom prst="roundRect">
            <a:avLst/>
          </a:prstGeom>
          <a:solidFill>
            <a:srgbClr val="28303F"/>
          </a:solidFill>
          <a:ln>
            <a:solidFill>
              <a:srgbClr val="4B5A73"/>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b="1">
                <a:solidFill>
                  <a:srgbClr val="F4E8D2"/>
                </a:solidFill>
                <a:latin typeface="Calibri"/>
              </a:defRPr>
            </a:pPr>
            <a:r>
              <a:t>Team Member 1</a:t>
            </a:r>
          </a:p>
        </p:txBody>
      </p:sp>
      <p:sp>
        <p:nvSpPr>
          <p:cNvPr id="29" name="TextBox 28"/>
          <p:cNvSpPr txBox="1"/>
          <p:nvPr/>
        </p:nvSpPr>
        <p:spPr>
          <a:xfrm>
            <a:off x="896112" y="4315967"/>
            <a:ext cx="2212848" cy="530352"/>
          </a:xfrm>
          <a:prstGeom prst="rect">
            <a:avLst/>
          </a:prstGeom>
          <a:noFill/>
        </p:spPr>
        <p:txBody>
          <a:bodyPr wrap="square" lIns="0" tIns="0" rIns="0" bIns="0">
            <a:spAutoFit/>
          </a:bodyPr>
          <a:lstStyle/>
          <a:p>
            <a:pPr>
              <a:defRPr sz="1300" b="1">
                <a:solidFill>
                  <a:srgbClr val="F4E8D2"/>
                </a:solidFill>
                <a:latin typeface="Arial"/>
              </a:defRPr>
            </a:pPr>
            <a:r>
              <a:t>YALAMADDI PRASHANTH</a:t>
            </a:r>
          </a:p>
        </p:txBody>
      </p:sp>
      <p:sp>
        <p:nvSpPr>
          <p:cNvPr id="30" name="TextBox 29"/>
          <p:cNvSpPr txBox="1"/>
          <p:nvPr/>
        </p:nvSpPr>
        <p:spPr>
          <a:xfrm>
            <a:off x="896112" y="4901183"/>
            <a:ext cx="2212848" cy="292608"/>
          </a:xfrm>
          <a:prstGeom prst="rect">
            <a:avLst/>
          </a:prstGeom>
          <a:noFill/>
        </p:spPr>
        <p:txBody>
          <a:bodyPr wrap="none" lIns="0" tIns="0" rIns="0" bIns="0">
            <a:spAutoFit/>
          </a:bodyPr>
          <a:lstStyle/>
          <a:p>
            <a:pPr>
              <a:defRPr sz="1100" b="1">
                <a:solidFill>
                  <a:srgbClr val="F4E8D2"/>
                </a:solidFill>
                <a:latin typeface="Calibri"/>
              </a:defRPr>
            </a:pPr>
            <a:r>
              <a:t>Roll Number: 25MVCSMR0538</a:t>
            </a:r>
          </a:p>
        </p:txBody>
      </p:sp>
      <p:sp>
        <p:nvSpPr>
          <p:cNvPr id="31" name="TextBox 30"/>
          <p:cNvSpPr txBox="1"/>
          <p:nvPr/>
        </p:nvSpPr>
        <p:spPr>
          <a:xfrm>
            <a:off x="896112" y="5248655"/>
            <a:ext cx="2212848" cy="548640"/>
          </a:xfrm>
          <a:prstGeom prst="rect">
            <a:avLst/>
          </a:prstGeom>
          <a:noFill/>
        </p:spPr>
        <p:txBody>
          <a:bodyPr wrap="square" lIns="0" tIns="0" rIns="0" bIns="0">
            <a:spAutoFit/>
          </a:bodyPr>
          <a:lstStyle/>
          <a:p>
            <a:pPr>
              <a:defRPr sz="1050">
                <a:solidFill>
                  <a:srgbClr val="C4B9A8"/>
                </a:solidFill>
                <a:latin typeface="Calibri"/>
              </a:defRPr>
            </a:pPr>
            <a:r>
              <a:t>Branch: CSM - AIML</a:t>
            </a:r>
            <a:br/>
            <a:r>
              <a:t>Section: AIML - F</a:t>
            </a:r>
          </a:p>
        </p:txBody>
      </p:sp>
      <p:sp>
        <p:nvSpPr>
          <p:cNvPr id="32" name="Rounded Rectangle 31"/>
          <p:cNvSpPr/>
          <p:nvPr/>
        </p:nvSpPr>
        <p:spPr>
          <a:xfrm>
            <a:off x="3456432" y="3785615"/>
            <a:ext cx="2542032" cy="2194560"/>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474720" y="3785615"/>
            <a:ext cx="2505456" cy="36576"/>
          </a:xfrm>
          <a:prstGeom prst="rect">
            <a:avLst/>
          </a:prstGeom>
          <a:solidFill>
            <a:srgbClr val="F4E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621024" y="3968495"/>
            <a:ext cx="1188720" cy="219456"/>
          </a:xfrm>
          <a:prstGeom prst="roundRect">
            <a:avLst/>
          </a:prstGeom>
          <a:solidFill>
            <a:srgbClr val="28303F"/>
          </a:solidFill>
          <a:ln>
            <a:solidFill>
              <a:srgbClr val="4B5A73"/>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b="1">
                <a:solidFill>
                  <a:srgbClr val="F4E8D2"/>
                </a:solidFill>
                <a:latin typeface="Calibri"/>
              </a:defRPr>
            </a:pPr>
            <a:r>
              <a:t>Team Member 2</a:t>
            </a:r>
          </a:p>
        </p:txBody>
      </p:sp>
      <p:sp>
        <p:nvSpPr>
          <p:cNvPr id="35" name="TextBox 34"/>
          <p:cNvSpPr txBox="1"/>
          <p:nvPr/>
        </p:nvSpPr>
        <p:spPr>
          <a:xfrm>
            <a:off x="3621024" y="4315967"/>
            <a:ext cx="2212848" cy="530352"/>
          </a:xfrm>
          <a:prstGeom prst="rect">
            <a:avLst/>
          </a:prstGeom>
          <a:noFill/>
        </p:spPr>
        <p:txBody>
          <a:bodyPr wrap="square" lIns="0" tIns="0" rIns="0" bIns="0">
            <a:spAutoFit/>
          </a:bodyPr>
          <a:lstStyle/>
          <a:p>
            <a:pPr>
              <a:defRPr sz="1300" b="1">
                <a:solidFill>
                  <a:srgbClr val="F4E8D2"/>
                </a:solidFill>
                <a:latin typeface="Arial"/>
              </a:defRPr>
            </a:pPr>
            <a:r>
              <a:t>M.B. WILSON RAJ</a:t>
            </a:r>
          </a:p>
        </p:txBody>
      </p:sp>
      <p:sp>
        <p:nvSpPr>
          <p:cNvPr id="36" name="TextBox 35"/>
          <p:cNvSpPr txBox="1"/>
          <p:nvPr/>
        </p:nvSpPr>
        <p:spPr>
          <a:xfrm>
            <a:off x="3621024" y="4901183"/>
            <a:ext cx="2212848" cy="292608"/>
          </a:xfrm>
          <a:prstGeom prst="rect">
            <a:avLst/>
          </a:prstGeom>
          <a:noFill/>
        </p:spPr>
        <p:txBody>
          <a:bodyPr wrap="none" lIns="0" tIns="0" rIns="0" bIns="0">
            <a:spAutoFit/>
          </a:bodyPr>
          <a:lstStyle/>
          <a:p>
            <a:pPr>
              <a:defRPr sz="1100" b="1">
                <a:solidFill>
                  <a:srgbClr val="F4E8D2"/>
                </a:solidFill>
                <a:latin typeface="Calibri"/>
              </a:defRPr>
            </a:pPr>
            <a:r>
              <a:t>Roll Number: 25MVCSMR0507</a:t>
            </a:r>
          </a:p>
        </p:txBody>
      </p:sp>
      <p:sp>
        <p:nvSpPr>
          <p:cNvPr id="37" name="TextBox 36"/>
          <p:cNvSpPr txBox="1"/>
          <p:nvPr/>
        </p:nvSpPr>
        <p:spPr>
          <a:xfrm>
            <a:off x="3621024" y="5248655"/>
            <a:ext cx="2212848" cy="548640"/>
          </a:xfrm>
          <a:prstGeom prst="rect">
            <a:avLst/>
          </a:prstGeom>
          <a:noFill/>
        </p:spPr>
        <p:txBody>
          <a:bodyPr wrap="square" lIns="0" tIns="0" rIns="0" bIns="0">
            <a:spAutoFit/>
          </a:bodyPr>
          <a:lstStyle/>
          <a:p>
            <a:pPr>
              <a:defRPr sz="1050">
                <a:solidFill>
                  <a:srgbClr val="C4B9A8"/>
                </a:solidFill>
                <a:latin typeface="Calibri"/>
              </a:defRPr>
            </a:pPr>
            <a:r>
              <a:t>Branch: CSM - AIML</a:t>
            </a:r>
            <a:br/>
            <a:r>
              <a:t>Section: AIML - F</a:t>
            </a:r>
          </a:p>
        </p:txBody>
      </p:sp>
      <p:sp>
        <p:nvSpPr>
          <p:cNvPr id="38" name="Rounded Rectangle 37"/>
          <p:cNvSpPr/>
          <p:nvPr/>
        </p:nvSpPr>
        <p:spPr>
          <a:xfrm>
            <a:off x="6181344" y="3785615"/>
            <a:ext cx="2542032" cy="2194560"/>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99632" y="3785615"/>
            <a:ext cx="2505456" cy="36576"/>
          </a:xfrm>
          <a:prstGeom prst="rect">
            <a:avLst/>
          </a:prstGeom>
          <a:solidFill>
            <a:srgbClr val="F4E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345936" y="3968495"/>
            <a:ext cx="1188720" cy="219456"/>
          </a:xfrm>
          <a:prstGeom prst="roundRect">
            <a:avLst/>
          </a:prstGeom>
          <a:solidFill>
            <a:srgbClr val="28303F"/>
          </a:solidFill>
          <a:ln>
            <a:solidFill>
              <a:srgbClr val="4B5A73"/>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b="1">
                <a:solidFill>
                  <a:srgbClr val="F4E8D2"/>
                </a:solidFill>
                <a:latin typeface="Calibri"/>
              </a:defRPr>
            </a:pPr>
            <a:r>
              <a:t>Team Member 3</a:t>
            </a:r>
          </a:p>
        </p:txBody>
      </p:sp>
      <p:sp>
        <p:nvSpPr>
          <p:cNvPr id="41" name="TextBox 40"/>
          <p:cNvSpPr txBox="1"/>
          <p:nvPr/>
        </p:nvSpPr>
        <p:spPr>
          <a:xfrm>
            <a:off x="6345936" y="4315967"/>
            <a:ext cx="2212848" cy="530352"/>
          </a:xfrm>
          <a:prstGeom prst="rect">
            <a:avLst/>
          </a:prstGeom>
          <a:noFill/>
        </p:spPr>
        <p:txBody>
          <a:bodyPr wrap="square" lIns="0" tIns="0" rIns="0" bIns="0">
            <a:spAutoFit/>
          </a:bodyPr>
          <a:lstStyle/>
          <a:p>
            <a:pPr>
              <a:defRPr sz="1300" b="1">
                <a:solidFill>
                  <a:srgbClr val="F4E8D2"/>
                </a:solidFill>
                <a:latin typeface="Arial"/>
              </a:defRPr>
            </a:pPr>
            <a:r>
              <a:t>SAI DIKSHIT REDDY</a:t>
            </a:r>
          </a:p>
        </p:txBody>
      </p:sp>
      <p:sp>
        <p:nvSpPr>
          <p:cNvPr id="42" name="TextBox 41"/>
          <p:cNvSpPr txBox="1"/>
          <p:nvPr/>
        </p:nvSpPr>
        <p:spPr>
          <a:xfrm>
            <a:off x="6345936" y="4901183"/>
            <a:ext cx="2212848" cy="292608"/>
          </a:xfrm>
          <a:prstGeom prst="rect">
            <a:avLst/>
          </a:prstGeom>
          <a:noFill/>
        </p:spPr>
        <p:txBody>
          <a:bodyPr wrap="none" lIns="0" tIns="0" rIns="0" bIns="0">
            <a:spAutoFit/>
          </a:bodyPr>
          <a:lstStyle/>
          <a:p>
            <a:pPr>
              <a:defRPr sz="1100" b="1">
                <a:solidFill>
                  <a:srgbClr val="F4E8D2"/>
                </a:solidFill>
                <a:latin typeface="Calibri"/>
              </a:defRPr>
            </a:pPr>
            <a:r>
              <a:t>Roll Number: 25MVCSMR0478</a:t>
            </a:r>
          </a:p>
        </p:txBody>
      </p:sp>
      <p:sp>
        <p:nvSpPr>
          <p:cNvPr id="43" name="TextBox 42"/>
          <p:cNvSpPr txBox="1"/>
          <p:nvPr/>
        </p:nvSpPr>
        <p:spPr>
          <a:xfrm>
            <a:off x="6345936" y="5248655"/>
            <a:ext cx="2212848" cy="548640"/>
          </a:xfrm>
          <a:prstGeom prst="rect">
            <a:avLst/>
          </a:prstGeom>
          <a:noFill/>
        </p:spPr>
        <p:txBody>
          <a:bodyPr wrap="square" lIns="0" tIns="0" rIns="0" bIns="0">
            <a:spAutoFit/>
          </a:bodyPr>
          <a:lstStyle/>
          <a:p>
            <a:pPr>
              <a:defRPr sz="1050">
                <a:solidFill>
                  <a:srgbClr val="C4B9A8"/>
                </a:solidFill>
                <a:latin typeface="Calibri"/>
              </a:defRPr>
            </a:pPr>
            <a:r>
              <a:t>Branch: CSM - AIML</a:t>
            </a:r>
            <a:br/>
            <a:r>
              <a:t>Section: AIML - F</a:t>
            </a:r>
          </a:p>
        </p:txBody>
      </p:sp>
      <p:sp>
        <p:nvSpPr>
          <p:cNvPr id="44" name="Rounded Rectangle 43"/>
          <p:cNvSpPr/>
          <p:nvPr/>
        </p:nvSpPr>
        <p:spPr>
          <a:xfrm>
            <a:off x="8906256" y="3785615"/>
            <a:ext cx="2542032" cy="2194560"/>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924544" y="3785615"/>
            <a:ext cx="2505456" cy="36576"/>
          </a:xfrm>
          <a:prstGeom prst="rect">
            <a:avLst/>
          </a:prstGeom>
          <a:solidFill>
            <a:srgbClr val="F4E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070848" y="3968495"/>
            <a:ext cx="1188720" cy="219456"/>
          </a:xfrm>
          <a:prstGeom prst="roundRect">
            <a:avLst/>
          </a:prstGeom>
          <a:solidFill>
            <a:srgbClr val="28303F"/>
          </a:solidFill>
          <a:ln>
            <a:solidFill>
              <a:srgbClr val="4B5A73"/>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b="1">
                <a:solidFill>
                  <a:srgbClr val="F4E8D2"/>
                </a:solidFill>
                <a:latin typeface="Calibri"/>
              </a:defRPr>
            </a:pPr>
            <a:r>
              <a:t>Team Member 4</a:t>
            </a:r>
          </a:p>
        </p:txBody>
      </p:sp>
      <p:sp>
        <p:nvSpPr>
          <p:cNvPr id="47" name="TextBox 46"/>
          <p:cNvSpPr txBox="1"/>
          <p:nvPr/>
        </p:nvSpPr>
        <p:spPr>
          <a:xfrm>
            <a:off x="9070848" y="4315967"/>
            <a:ext cx="2212848" cy="530352"/>
          </a:xfrm>
          <a:prstGeom prst="rect">
            <a:avLst/>
          </a:prstGeom>
          <a:noFill/>
        </p:spPr>
        <p:txBody>
          <a:bodyPr wrap="square" lIns="0" tIns="0" rIns="0" bIns="0">
            <a:spAutoFit/>
          </a:bodyPr>
          <a:lstStyle/>
          <a:p>
            <a:pPr>
              <a:defRPr sz="1300" b="1">
                <a:solidFill>
                  <a:srgbClr val="F4E8D2"/>
                </a:solidFill>
                <a:latin typeface="Arial"/>
              </a:defRPr>
            </a:pPr>
            <a:r>
              <a:t>BODINI LOKESH GOUD</a:t>
            </a:r>
          </a:p>
        </p:txBody>
      </p:sp>
      <p:sp>
        <p:nvSpPr>
          <p:cNvPr id="48" name="TextBox 47"/>
          <p:cNvSpPr txBox="1"/>
          <p:nvPr/>
        </p:nvSpPr>
        <p:spPr>
          <a:xfrm>
            <a:off x="9070848" y="4901183"/>
            <a:ext cx="2212848" cy="292608"/>
          </a:xfrm>
          <a:prstGeom prst="rect">
            <a:avLst/>
          </a:prstGeom>
          <a:noFill/>
        </p:spPr>
        <p:txBody>
          <a:bodyPr wrap="none" lIns="0" tIns="0" rIns="0" bIns="0">
            <a:spAutoFit/>
          </a:bodyPr>
          <a:lstStyle/>
          <a:p>
            <a:pPr>
              <a:defRPr sz="1100" b="1">
                <a:solidFill>
                  <a:srgbClr val="F4E8D2"/>
                </a:solidFill>
                <a:latin typeface="Calibri"/>
              </a:defRPr>
            </a:pPr>
            <a:r>
              <a:t>Roll Number: 25MVCSMR0473</a:t>
            </a:r>
          </a:p>
        </p:txBody>
      </p:sp>
      <p:sp>
        <p:nvSpPr>
          <p:cNvPr id="49" name="TextBox 48"/>
          <p:cNvSpPr txBox="1"/>
          <p:nvPr/>
        </p:nvSpPr>
        <p:spPr>
          <a:xfrm>
            <a:off x="9070848" y="5248655"/>
            <a:ext cx="2212848" cy="548640"/>
          </a:xfrm>
          <a:prstGeom prst="rect">
            <a:avLst/>
          </a:prstGeom>
          <a:noFill/>
        </p:spPr>
        <p:txBody>
          <a:bodyPr wrap="square" lIns="0" tIns="0" rIns="0" bIns="0">
            <a:spAutoFit/>
          </a:bodyPr>
          <a:lstStyle/>
          <a:p>
            <a:pPr>
              <a:defRPr sz="1050">
                <a:solidFill>
                  <a:srgbClr val="C4B9A8"/>
                </a:solidFill>
                <a:latin typeface="Calibri"/>
              </a:defRPr>
            </a:pPr>
            <a:r>
              <a:t>Branch: CSM - AIML</a:t>
            </a:r>
            <a:br/>
            <a:r>
              <a:t>Section: AIML - F</a:t>
            </a:r>
          </a:p>
        </p:txBody>
      </p:sp>
      <p:sp>
        <p:nvSpPr>
          <p:cNvPr id="50" name="Rectangle 49"/>
          <p:cNvSpPr/>
          <p:nvPr/>
        </p:nvSpPr>
        <p:spPr>
          <a:xfrm>
            <a:off x="731520" y="6254496"/>
            <a:ext cx="10728655" cy="13716"/>
          </a:xfrm>
          <a:prstGeom prst="rect">
            <a:avLst/>
          </a:prstGeom>
          <a:solidFill>
            <a:srgbClr val="384458"/>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31520" y="6327648"/>
            <a:ext cx="7772400" cy="256032"/>
          </a:xfrm>
          <a:prstGeom prst="rect">
            <a:avLst/>
          </a:prstGeom>
          <a:noFill/>
        </p:spPr>
        <p:txBody>
          <a:bodyPr wrap="none" lIns="0" tIns="0">
            <a:spAutoFit/>
          </a:bodyPr>
          <a:lstStyle/>
          <a:p>
            <a:pPr>
              <a:defRPr sz="950" b="1">
                <a:solidFill>
                  <a:srgbClr val="C4B9A8"/>
                </a:solidFill>
                <a:latin typeface="Calibri"/>
              </a:defRPr>
            </a:pPr>
            <a:r>
              <a:t>PROBLEM 36 | SMART PARKING MANAGEMENT SYSTEM</a:t>
            </a:r>
          </a:p>
        </p:txBody>
      </p:sp>
      <p:sp>
        <p:nvSpPr>
          <p:cNvPr id="52" name="TextBox 51"/>
          <p:cNvSpPr txBox="1"/>
          <p:nvPr/>
        </p:nvSpPr>
        <p:spPr>
          <a:xfrm>
            <a:off x="10058400" y="6327648"/>
            <a:ext cx="1401775" cy="256032"/>
          </a:xfrm>
          <a:prstGeom prst="rect">
            <a:avLst/>
          </a:prstGeom>
          <a:noFill/>
        </p:spPr>
        <p:txBody>
          <a:bodyPr wrap="none" rIns="0" tIns="0">
            <a:spAutoFit/>
          </a:bodyPr>
          <a:lstStyle/>
          <a:p>
            <a:pPr algn="r">
              <a:defRPr sz="950" b="1">
                <a:solidFill>
                  <a:srgbClr val="F4E8D2"/>
                </a:solidFill>
                <a:latin typeface="Calibri"/>
              </a:defRPr>
            </a:pPr>
            <a:r>
              <a:t>01 / 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02632"/>
        </a:solidFill>
        <a:effectLst/>
      </p:bgPr>
    </p:bg>
    <p:spTree>
      <p:nvGrpSpPr>
        <p:cNvPr id="1" name=""/>
        <p:cNvGrpSpPr/>
        <p:nvPr/>
      </p:nvGrpSpPr>
      <p:grpSpPr/>
      <p:sp>
        <p:nvSpPr>
          <p:cNvPr id="2" name="Rounded Rectangle 1"/>
          <p:cNvSpPr/>
          <p:nvPr/>
        </p:nvSpPr>
        <p:spPr>
          <a:xfrm>
            <a:off x="731520" y="384048"/>
            <a:ext cx="2560320" cy="256032"/>
          </a:xfrm>
          <a:prstGeom prst="roundRect">
            <a:avLst/>
          </a:prstGeom>
          <a:solidFill>
            <a:srgbClr val="28303F"/>
          </a:solidFill>
          <a:ln w="12700">
            <a:solidFill>
              <a:srgbClr val="4B5A7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defRPr sz="1000" b="1">
                <a:solidFill>
                  <a:srgbClr val="F4E8D2"/>
                </a:solidFill>
                <a:latin typeface="Calibri"/>
              </a:defRPr>
            </a:pPr>
            <a:r>
              <a:t>THE CHALLENGE</a:t>
            </a:r>
          </a:p>
        </p:txBody>
      </p:sp>
      <p:sp>
        <p:nvSpPr>
          <p:cNvPr id="3" name="TextBox 2"/>
          <p:cNvSpPr txBox="1"/>
          <p:nvPr/>
        </p:nvSpPr>
        <p:spPr>
          <a:xfrm>
            <a:off x="731520" y="676656"/>
            <a:ext cx="10725912" cy="475488"/>
          </a:xfrm>
          <a:prstGeom prst="rect">
            <a:avLst/>
          </a:prstGeom>
          <a:noFill/>
        </p:spPr>
        <p:txBody>
          <a:bodyPr wrap="square" lIns="0" tIns="0" rIns="0" bIns="0">
            <a:spAutoFit/>
          </a:bodyPr>
          <a:lstStyle/>
          <a:p>
            <a:pPr>
              <a:defRPr sz="2200" b="1">
                <a:solidFill>
                  <a:srgbClr val="F4E8D2"/>
                </a:solidFill>
                <a:latin typeface="Arial"/>
              </a:defRPr>
            </a:pPr>
            <a:r>
              <a:t>Urban parking search drives 30% of downtown traffic congestion.</a:t>
            </a:r>
          </a:p>
        </p:txBody>
      </p:sp>
      <p:sp>
        <p:nvSpPr>
          <p:cNvPr id="4" name="TextBox 3"/>
          <p:cNvSpPr txBox="1"/>
          <p:nvPr/>
        </p:nvSpPr>
        <p:spPr>
          <a:xfrm>
            <a:off x="731520" y="1170432"/>
            <a:ext cx="10725912" cy="329184"/>
          </a:xfrm>
          <a:prstGeom prst="rect">
            <a:avLst/>
          </a:prstGeom>
          <a:noFill/>
        </p:spPr>
        <p:txBody>
          <a:bodyPr wrap="square" lIns="0" tIns="0" rIns="0" bIns="0">
            <a:spAutoFit/>
          </a:bodyPr>
          <a:lstStyle/>
          <a:p>
            <a:pPr>
              <a:defRPr sz="1150">
                <a:solidFill>
                  <a:srgbClr val="C4B9A8"/>
                </a:solidFill>
                <a:latin typeface="Calibri"/>
              </a:defRPr>
            </a:pPr>
            <a:r>
              <a:t>Cruising for vacant bays causes arterial gridlock, fuel wastage, and massive productivity loss across metro hubs.</a:t>
            </a:r>
          </a:p>
        </p:txBody>
      </p:sp>
      <p:sp>
        <p:nvSpPr>
          <p:cNvPr id="5" name="Rectangle 4"/>
          <p:cNvSpPr/>
          <p:nvPr/>
        </p:nvSpPr>
        <p:spPr>
          <a:xfrm>
            <a:off x="731520" y="1536192"/>
            <a:ext cx="10728655" cy="13716"/>
          </a:xfrm>
          <a:prstGeom prst="rect">
            <a:avLst/>
          </a:prstGeom>
          <a:solidFill>
            <a:srgbClr val="384458"/>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19072"/>
            <a:ext cx="4937760" cy="3364992"/>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719072"/>
            <a:ext cx="4901184" cy="36576"/>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1901952"/>
            <a:ext cx="4498848" cy="219456"/>
          </a:xfrm>
          <a:prstGeom prst="rect">
            <a:avLst/>
          </a:prstGeom>
          <a:noFill/>
        </p:spPr>
        <p:txBody>
          <a:bodyPr wrap="none" lIns="0" tIns="0" rIns="0" bIns="0">
            <a:spAutoFit/>
          </a:bodyPr>
          <a:lstStyle/>
          <a:p>
            <a:pPr>
              <a:defRPr sz="1000" b="1">
                <a:solidFill>
                  <a:srgbClr val="FBBF24"/>
                </a:solidFill>
                <a:latin typeface="Calibri"/>
              </a:defRPr>
            </a:pPr>
            <a:r>
              <a:t>WHY IT MATTERS</a:t>
            </a:r>
          </a:p>
        </p:txBody>
      </p:sp>
      <p:sp>
        <p:nvSpPr>
          <p:cNvPr id="9" name="TextBox 8"/>
          <p:cNvSpPr txBox="1"/>
          <p:nvPr/>
        </p:nvSpPr>
        <p:spPr>
          <a:xfrm>
            <a:off x="950976" y="2157984"/>
            <a:ext cx="4498848" cy="548640"/>
          </a:xfrm>
          <a:prstGeom prst="rect">
            <a:avLst/>
          </a:prstGeom>
          <a:noFill/>
        </p:spPr>
        <p:txBody>
          <a:bodyPr wrap="square" lIns="0" tIns="0" rIns="0" bIns="0">
            <a:spAutoFit/>
          </a:bodyPr>
          <a:lstStyle/>
          <a:p>
            <a:pPr>
              <a:defRPr sz="1500" b="1">
                <a:solidFill>
                  <a:srgbClr val="F4E8D2"/>
                </a:solidFill>
                <a:latin typeface="Arial"/>
              </a:defRPr>
            </a:pPr>
            <a:r>
              <a:t>The Invisible Capacity Paradox in High-Density Centers</a:t>
            </a:r>
          </a:p>
        </p:txBody>
      </p:sp>
      <p:sp>
        <p:nvSpPr>
          <p:cNvPr id="10" name="TextBox 9"/>
          <p:cNvSpPr txBox="1"/>
          <p:nvPr/>
        </p:nvSpPr>
        <p:spPr>
          <a:xfrm>
            <a:off x="950976" y="2779776"/>
            <a:ext cx="4498848" cy="1188720"/>
          </a:xfrm>
          <a:prstGeom prst="rect">
            <a:avLst/>
          </a:prstGeom>
          <a:noFill/>
        </p:spPr>
        <p:txBody>
          <a:bodyPr wrap="square" lIns="0" tIns="0" rIns="0" bIns="0">
            <a:spAutoFit/>
          </a:bodyPr>
          <a:lstStyle/>
          <a:p>
            <a:pPr>
              <a:defRPr sz="1150">
                <a:solidFill>
                  <a:srgbClr val="C4B9A8"/>
                </a:solidFill>
                <a:latin typeface="Calibri"/>
              </a:defRPr>
            </a:pPr>
            <a:r>
              <a:t>In commercial hubs, transit corridors, and educational campuses, parking facilities operate with severe informational asymmetry. Drivers circulate blind, creating blockades at main entry gates while up to 35% of inner-lot bays sit entirely vacant. Manual ticketing systems, paper receipts, and cash handoffs exacerbate delays.</a:t>
            </a:r>
          </a:p>
        </p:txBody>
      </p:sp>
      <p:sp>
        <p:nvSpPr>
          <p:cNvPr id="11" name="Rounded Rectangle 10"/>
          <p:cNvSpPr/>
          <p:nvPr/>
        </p:nvSpPr>
        <p:spPr>
          <a:xfrm>
            <a:off x="950976" y="4059936"/>
            <a:ext cx="2157984" cy="804672"/>
          </a:xfrm>
          <a:prstGeom prst="roundRect">
            <a:avLst/>
          </a:prstGeom>
          <a:solidFill>
            <a:srgbClr val="28303F"/>
          </a:solidFill>
          <a:ln>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lIns="73152" tIns="73152" rIns="73152" bIns="73152"/>
          <a:lstStyle/>
          <a:p>
            <a:pPr algn="ctr">
              <a:defRPr sz="1600" b="1">
                <a:solidFill>
                  <a:srgbClr val="FBBF24"/>
                </a:solidFill>
                <a:latin typeface="Arial"/>
              </a:defRPr>
            </a:pPr>
            <a:r>
              <a:t>31 Minutes</a:t>
            </a:r>
          </a:p>
          <a:p>
            <a:pPr>
              <a:defRPr sz="950">
                <a:solidFill>
                  <a:srgbClr val="C4B9A8"/>
                </a:solidFill>
                <a:latin typeface="Calibri"/>
              </a:defRPr>
            </a:pPr>
            <a:r>
              <a:t>Avg. peak search time per car</a:t>
            </a:r>
          </a:p>
        </p:txBody>
      </p:sp>
      <p:sp>
        <p:nvSpPr>
          <p:cNvPr id="12" name="Rounded Rectangle 11"/>
          <p:cNvSpPr/>
          <p:nvPr/>
        </p:nvSpPr>
        <p:spPr>
          <a:xfrm>
            <a:off x="3291840" y="4059936"/>
            <a:ext cx="2157984" cy="804672"/>
          </a:xfrm>
          <a:prstGeom prst="roundRect">
            <a:avLst/>
          </a:prstGeom>
          <a:solidFill>
            <a:srgbClr val="28303F"/>
          </a:solidFill>
          <a:ln>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lIns="73152" tIns="73152" rIns="73152" bIns="73152"/>
          <a:lstStyle/>
          <a:p>
            <a:pPr algn="ctr">
              <a:defRPr sz="1600" b="1">
                <a:solidFill>
                  <a:srgbClr val="F87171"/>
                </a:solidFill>
                <a:latin typeface="Arial"/>
              </a:defRPr>
            </a:pPr>
            <a:r>
              <a:t>22% Fuel Loss</a:t>
            </a:r>
          </a:p>
          <a:p>
            <a:pPr>
              <a:defRPr sz="950">
                <a:solidFill>
                  <a:srgbClr val="C4B9A8"/>
                </a:solidFill>
                <a:latin typeface="Calibri"/>
              </a:defRPr>
            </a:pPr>
            <a:r>
              <a:t>Wasted during cruising and idling</a:t>
            </a:r>
          </a:p>
        </p:txBody>
      </p:sp>
      <p:sp>
        <p:nvSpPr>
          <p:cNvPr id="13" name="Rounded Rectangle 12"/>
          <p:cNvSpPr/>
          <p:nvPr/>
        </p:nvSpPr>
        <p:spPr>
          <a:xfrm>
            <a:off x="5852160" y="1719072"/>
            <a:ext cx="5608015" cy="1024128"/>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035040" y="1901952"/>
            <a:ext cx="658368" cy="658368"/>
          </a:xfrm>
          <a:prstGeom prst="roundRect">
            <a:avLst/>
          </a:prstGeom>
          <a:solidFill>
            <a:srgbClr val="28303F"/>
          </a:solidFill>
          <a:ln>
            <a:solidFill>
              <a:srgbClr val="4B5A73"/>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800" b="1">
                <a:solidFill>
                  <a:srgbClr val="F4E8D2"/>
                </a:solidFill>
                <a:latin typeface="Arial"/>
              </a:defRPr>
            </a:pPr>
            <a:r>
              <a:t>01</a:t>
            </a:r>
          </a:p>
        </p:txBody>
      </p:sp>
      <p:sp>
        <p:nvSpPr>
          <p:cNvPr id="15" name="TextBox 14"/>
          <p:cNvSpPr txBox="1"/>
          <p:nvPr/>
        </p:nvSpPr>
        <p:spPr>
          <a:xfrm>
            <a:off x="6839712" y="1847088"/>
            <a:ext cx="4474159" cy="786384"/>
          </a:xfrm>
          <a:prstGeom prst="rect">
            <a:avLst/>
          </a:prstGeom>
          <a:noFill/>
        </p:spPr>
        <p:txBody>
          <a:bodyPr wrap="square" lIns="0" tIns="0" rIns="0" bIns="0">
            <a:spAutoFit/>
          </a:bodyPr>
          <a:lstStyle/>
          <a:p>
            <a:pPr>
              <a:defRPr sz="1300" b="1">
                <a:solidFill>
                  <a:srgbClr val="F4E8D2"/>
                </a:solidFill>
                <a:latin typeface="Arial"/>
              </a:defRPr>
            </a:pPr>
            <a:r>
              <a:t>Zero Real-Time Visibility</a:t>
            </a:r>
          </a:p>
          <a:p>
            <a:pPr>
              <a:defRPr sz="1050">
                <a:solidFill>
                  <a:srgbClr val="C4B9A8"/>
                </a:solidFill>
                <a:latin typeface="Calibri"/>
              </a:defRPr>
            </a:pPr>
            <a:r>
              <a:t>Arriving drivers have no live occupancy indicators before entering facilities, leading to chaotic random searches across multi-level rows.</a:t>
            </a:r>
          </a:p>
        </p:txBody>
      </p:sp>
      <p:sp>
        <p:nvSpPr>
          <p:cNvPr id="16" name="Rounded Rectangle 15"/>
          <p:cNvSpPr/>
          <p:nvPr/>
        </p:nvSpPr>
        <p:spPr>
          <a:xfrm>
            <a:off x="5852160" y="2889504"/>
            <a:ext cx="5608015" cy="1024128"/>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035040" y="3072384"/>
            <a:ext cx="658368" cy="658368"/>
          </a:xfrm>
          <a:prstGeom prst="roundRect">
            <a:avLst/>
          </a:prstGeom>
          <a:solidFill>
            <a:srgbClr val="28303F"/>
          </a:solidFill>
          <a:ln>
            <a:solidFill>
              <a:srgbClr val="4B5A73"/>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800" b="1">
                <a:solidFill>
                  <a:srgbClr val="F4E8D2"/>
                </a:solidFill>
                <a:latin typeface="Arial"/>
              </a:defRPr>
            </a:pPr>
            <a:r>
              <a:t>02</a:t>
            </a:r>
          </a:p>
        </p:txBody>
      </p:sp>
      <p:sp>
        <p:nvSpPr>
          <p:cNvPr id="18" name="TextBox 17"/>
          <p:cNvSpPr txBox="1"/>
          <p:nvPr/>
        </p:nvSpPr>
        <p:spPr>
          <a:xfrm>
            <a:off x="6839712" y="3017520"/>
            <a:ext cx="4474159" cy="786384"/>
          </a:xfrm>
          <a:prstGeom prst="rect">
            <a:avLst/>
          </a:prstGeom>
          <a:noFill/>
        </p:spPr>
        <p:txBody>
          <a:bodyPr wrap="square" lIns="0" tIns="0" rIns="0" bIns="0">
            <a:spAutoFit/>
          </a:bodyPr>
          <a:lstStyle/>
          <a:p>
            <a:pPr>
              <a:defRPr sz="1300" b="1">
                <a:solidFill>
                  <a:srgbClr val="F4E8D2"/>
                </a:solidFill>
                <a:latin typeface="Arial"/>
              </a:defRPr>
            </a:pPr>
            <a:r>
              <a:t>Gate Ingress Bottlenecks</a:t>
            </a:r>
          </a:p>
          <a:p>
            <a:pPr>
              <a:defRPr sz="1050">
                <a:solidFill>
                  <a:srgbClr val="C4B9A8"/>
                </a:solidFill>
                <a:latin typeface="Calibri"/>
              </a:defRPr>
            </a:pPr>
            <a:r>
              <a:t>Manual barrier gate interaction, physical ticket dispensing, and cash payment handoffs cause entrance queues exceeding 15 minutes.</a:t>
            </a:r>
          </a:p>
        </p:txBody>
      </p:sp>
      <p:sp>
        <p:nvSpPr>
          <p:cNvPr id="19" name="Rounded Rectangle 18"/>
          <p:cNvSpPr/>
          <p:nvPr/>
        </p:nvSpPr>
        <p:spPr>
          <a:xfrm>
            <a:off x="5852160" y="4059936"/>
            <a:ext cx="5608015" cy="1024128"/>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035040" y="4242816"/>
            <a:ext cx="658368" cy="658368"/>
          </a:xfrm>
          <a:prstGeom prst="roundRect">
            <a:avLst/>
          </a:prstGeom>
          <a:solidFill>
            <a:srgbClr val="28303F"/>
          </a:solidFill>
          <a:ln>
            <a:solidFill>
              <a:srgbClr val="4B5A73"/>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800" b="1">
                <a:solidFill>
                  <a:srgbClr val="F4E8D2"/>
                </a:solidFill>
                <a:latin typeface="Arial"/>
              </a:defRPr>
            </a:pPr>
            <a:r>
              <a:t>03</a:t>
            </a:r>
          </a:p>
        </p:txBody>
      </p:sp>
      <p:sp>
        <p:nvSpPr>
          <p:cNvPr id="21" name="TextBox 20"/>
          <p:cNvSpPr txBox="1"/>
          <p:nvPr/>
        </p:nvSpPr>
        <p:spPr>
          <a:xfrm>
            <a:off x="6839712" y="4187952"/>
            <a:ext cx="4474159" cy="786384"/>
          </a:xfrm>
          <a:prstGeom prst="rect">
            <a:avLst/>
          </a:prstGeom>
          <a:noFill/>
        </p:spPr>
        <p:txBody>
          <a:bodyPr wrap="square" lIns="0" tIns="0" rIns="0" bIns="0">
            <a:spAutoFit/>
          </a:bodyPr>
          <a:lstStyle/>
          <a:p>
            <a:pPr>
              <a:defRPr sz="1300" b="1">
                <a:solidFill>
                  <a:srgbClr val="F4E8D2"/>
                </a:solidFill>
                <a:latin typeface="Arial"/>
              </a:defRPr>
            </a:pPr>
            <a:r>
              <a:t>Static Slot Underutilization</a:t>
            </a:r>
          </a:p>
          <a:p>
            <a:pPr>
              <a:defRPr sz="1050">
                <a:solidFill>
                  <a:srgbClr val="C4B9A8"/>
                </a:solidFill>
                <a:latin typeface="Calibri"/>
              </a:defRPr>
            </a:pPr>
            <a:r>
              <a:t>Lack of automated slot allocation leaves reserved and inner bays underutilized while arterial lanes suffer severe spillover congestion.</a:t>
            </a:r>
          </a:p>
        </p:txBody>
      </p:sp>
      <p:sp>
        <p:nvSpPr>
          <p:cNvPr id="22" name="Rounded Rectangle 21"/>
          <p:cNvSpPr/>
          <p:nvPr/>
        </p:nvSpPr>
        <p:spPr>
          <a:xfrm>
            <a:off x="731520" y="5230368"/>
            <a:ext cx="10728655" cy="877824"/>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 y="5321808"/>
            <a:ext cx="10287000" cy="694944"/>
          </a:xfrm>
          <a:prstGeom prst="rect">
            <a:avLst/>
          </a:prstGeom>
          <a:noFill/>
        </p:spPr>
        <p:txBody>
          <a:bodyPr wrap="square" lIns="0" tIns="0" rIns="0" bIns="0">
            <a:spAutoFit/>
          </a:bodyPr>
          <a:lstStyle/>
          <a:p>
            <a:pPr>
              <a:defRPr sz="950" b="1">
                <a:solidFill>
                  <a:srgbClr val="F4E8D2"/>
                </a:solidFill>
                <a:latin typeface="Calibri"/>
              </a:defRPr>
            </a:pPr>
            <a:r>
              <a:t>EMPIRICAL CAMPUS BASELINE STUDY (MALLA REDDY TECHNICAL CAMPUS)</a:t>
            </a:r>
          </a:p>
          <a:p>
            <a:pPr>
              <a:defRPr sz="1100">
                <a:solidFill>
                  <a:srgbClr val="C4B9A8"/>
                </a:solidFill>
                <a:latin typeface="Calibri"/>
              </a:defRPr>
            </a:pPr>
            <a:r>
              <a:t>Evaluated across 48 campus parking stalls during morning peak hours (8:30 AM to 10:00 AM). Uncoordinated arrivals produced an average search latency of 31 minutes per car with a 42% gate bottleneck index.</a:t>
            </a:r>
          </a:p>
        </p:txBody>
      </p:sp>
      <p:sp>
        <p:nvSpPr>
          <p:cNvPr id="24" name="Rectangle 23"/>
          <p:cNvSpPr/>
          <p:nvPr/>
        </p:nvSpPr>
        <p:spPr>
          <a:xfrm>
            <a:off x="731520" y="6254496"/>
            <a:ext cx="10728655" cy="13716"/>
          </a:xfrm>
          <a:prstGeom prst="rect">
            <a:avLst/>
          </a:prstGeom>
          <a:solidFill>
            <a:srgbClr val="384458"/>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6327648"/>
            <a:ext cx="7772400" cy="256032"/>
          </a:xfrm>
          <a:prstGeom prst="rect">
            <a:avLst/>
          </a:prstGeom>
          <a:noFill/>
        </p:spPr>
        <p:txBody>
          <a:bodyPr wrap="none" lIns="0" tIns="0">
            <a:spAutoFit/>
          </a:bodyPr>
          <a:lstStyle/>
          <a:p>
            <a:pPr>
              <a:defRPr sz="950" b="1">
                <a:solidFill>
                  <a:srgbClr val="C4B9A8"/>
                </a:solidFill>
                <a:latin typeface="Calibri"/>
              </a:defRPr>
            </a:pPr>
            <a:r>
              <a:t>PROBLEM 36 | SMART PARKING MANAGEMENT SYSTEM</a:t>
            </a:r>
          </a:p>
        </p:txBody>
      </p:sp>
      <p:sp>
        <p:nvSpPr>
          <p:cNvPr id="26" name="TextBox 25"/>
          <p:cNvSpPr txBox="1"/>
          <p:nvPr/>
        </p:nvSpPr>
        <p:spPr>
          <a:xfrm>
            <a:off x="10058400" y="6327648"/>
            <a:ext cx="1401775" cy="256032"/>
          </a:xfrm>
          <a:prstGeom prst="rect">
            <a:avLst/>
          </a:prstGeom>
          <a:noFill/>
        </p:spPr>
        <p:txBody>
          <a:bodyPr wrap="none" rIns="0" tIns="0">
            <a:spAutoFit/>
          </a:bodyPr>
          <a:lstStyle/>
          <a:p>
            <a:pPr algn="r">
              <a:defRPr sz="950" b="1">
                <a:solidFill>
                  <a:srgbClr val="F4E8D2"/>
                </a:solidFill>
                <a:latin typeface="Calibri"/>
              </a:defRPr>
            </a:pPr>
            <a:r>
              <a:t>02 / 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02632"/>
        </a:solidFill>
        <a:effectLst/>
      </p:bgPr>
    </p:bg>
    <p:spTree>
      <p:nvGrpSpPr>
        <p:cNvPr id="1" name=""/>
        <p:cNvGrpSpPr/>
        <p:nvPr/>
      </p:nvGrpSpPr>
      <p:grpSpPr/>
      <p:sp>
        <p:nvSpPr>
          <p:cNvPr id="2" name="Rounded Rectangle 1"/>
          <p:cNvSpPr/>
          <p:nvPr/>
        </p:nvSpPr>
        <p:spPr>
          <a:xfrm>
            <a:off x="731520" y="384048"/>
            <a:ext cx="2560320" cy="256032"/>
          </a:xfrm>
          <a:prstGeom prst="roundRect">
            <a:avLst/>
          </a:prstGeom>
          <a:solidFill>
            <a:srgbClr val="28303F"/>
          </a:solidFill>
          <a:ln w="12700">
            <a:solidFill>
              <a:srgbClr val="4B5A7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defRPr sz="1000" b="1">
                <a:solidFill>
                  <a:srgbClr val="F4E8D2"/>
                </a:solidFill>
                <a:latin typeface="Calibri"/>
              </a:defRPr>
            </a:pPr>
            <a:r>
              <a:t>OUR INNOVATION</a:t>
            </a:r>
          </a:p>
        </p:txBody>
      </p:sp>
      <p:sp>
        <p:nvSpPr>
          <p:cNvPr id="3" name="TextBox 2"/>
          <p:cNvSpPr txBox="1"/>
          <p:nvPr/>
        </p:nvSpPr>
        <p:spPr>
          <a:xfrm>
            <a:off x="731520" y="676656"/>
            <a:ext cx="10725912" cy="475488"/>
          </a:xfrm>
          <a:prstGeom prst="rect">
            <a:avLst/>
          </a:prstGeom>
          <a:noFill/>
        </p:spPr>
        <p:txBody>
          <a:bodyPr wrap="square" lIns="0" tIns="0" rIns="0" bIns="0">
            <a:spAutoFit/>
          </a:bodyPr>
          <a:lstStyle/>
          <a:p>
            <a:pPr>
              <a:defRPr sz="2200" b="1">
                <a:solidFill>
                  <a:srgbClr val="F4E8D2"/>
                </a:solidFill>
                <a:latin typeface="Arial"/>
              </a:defRPr>
            </a:pPr>
            <a:r>
              <a:t>An intelligent IoT and MERN platform for sub-second bay dispatch.</a:t>
            </a:r>
          </a:p>
        </p:txBody>
      </p:sp>
      <p:sp>
        <p:nvSpPr>
          <p:cNvPr id="4" name="TextBox 3"/>
          <p:cNvSpPr txBox="1"/>
          <p:nvPr/>
        </p:nvSpPr>
        <p:spPr>
          <a:xfrm>
            <a:off x="731520" y="1170432"/>
            <a:ext cx="10725912" cy="329184"/>
          </a:xfrm>
          <a:prstGeom prst="rect">
            <a:avLst/>
          </a:prstGeom>
          <a:noFill/>
        </p:spPr>
        <p:txBody>
          <a:bodyPr wrap="square" lIns="0" tIns="0" rIns="0" bIns="0">
            <a:spAutoFit/>
          </a:bodyPr>
          <a:lstStyle/>
          <a:p>
            <a:pPr>
              <a:defRPr sz="1150">
                <a:solidFill>
                  <a:srgbClr val="C4B9A8"/>
                </a:solidFill>
                <a:latin typeface="Calibri"/>
              </a:defRPr>
            </a:pPr>
            <a:r>
              <a:t>Unifying hardware sensor telemetry, computer-vision ANPR, and digital payments into a reactive web twin.</a:t>
            </a:r>
          </a:p>
        </p:txBody>
      </p:sp>
      <p:sp>
        <p:nvSpPr>
          <p:cNvPr id="5" name="Rectangle 4"/>
          <p:cNvSpPr/>
          <p:nvPr/>
        </p:nvSpPr>
        <p:spPr>
          <a:xfrm>
            <a:off x="731520" y="1536192"/>
            <a:ext cx="10728655" cy="13716"/>
          </a:xfrm>
          <a:prstGeom prst="rect">
            <a:avLst/>
          </a:prstGeom>
          <a:solidFill>
            <a:srgbClr val="384458"/>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19072"/>
            <a:ext cx="5248656" cy="1847088"/>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719072"/>
            <a:ext cx="5212080" cy="36576"/>
          </a:xfrm>
          <a:prstGeom prst="rect">
            <a:avLst/>
          </a:prstGeom>
          <a:solidFill>
            <a:srgbClr val="F4E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1883664"/>
            <a:ext cx="4809744" cy="201168"/>
          </a:xfrm>
          <a:prstGeom prst="rect">
            <a:avLst/>
          </a:prstGeom>
          <a:noFill/>
        </p:spPr>
        <p:txBody>
          <a:bodyPr wrap="none" lIns="0" tIns="0" rIns="0" bIns="0">
            <a:spAutoFit/>
          </a:bodyPr>
          <a:lstStyle/>
          <a:p>
            <a:pPr>
              <a:defRPr sz="950" b="1">
                <a:solidFill>
                  <a:srgbClr val="F4E8D2"/>
                </a:solidFill>
                <a:latin typeface="Calibri"/>
              </a:defRPr>
            </a:pPr>
            <a:r>
              <a:t>01 / DYNAMIC BAY DISPATCH</a:t>
            </a:r>
          </a:p>
        </p:txBody>
      </p:sp>
      <p:sp>
        <p:nvSpPr>
          <p:cNvPr id="9" name="TextBox 8"/>
          <p:cNvSpPr txBox="1"/>
          <p:nvPr/>
        </p:nvSpPr>
        <p:spPr>
          <a:xfrm>
            <a:off x="950976" y="2139696"/>
            <a:ext cx="4809744" cy="329184"/>
          </a:xfrm>
          <a:prstGeom prst="rect">
            <a:avLst/>
          </a:prstGeom>
          <a:noFill/>
        </p:spPr>
        <p:txBody>
          <a:bodyPr wrap="square" lIns="0" tIns="0" rIns="0" bIns="0">
            <a:spAutoFit/>
          </a:bodyPr>
          <a:lstStyle/>
          <a:p>
            <a:pPr>
              <a:defRPr sz="1400" b="1">
                <a:solidFill>
                  <a:srgbClr val="F4E8D2"/>
                </a:solidFill>
                <a:latin typeface="Arial"/>
              </a:defRPr>
            </a:pPr>
            <a:r>
              <a:t>Algorithmic Nearest-Slot Allocation</a:t>
            </a:r>
          </a:p>
        </p:txBody>
      </p:sp>
      <p:sp>
        <p:nvSpPr>
          <p:cNvPr id="10" name="TextBox 9"/>
          <p:cNvSpPr txBox="1"/>
          <p:nvPr/>
        </p:nvSpPr>
        <p:spPr>
          <a:xfrm>
            <a:off x="950976" y="2542032"/>
            <a:ext cx="4809744" cy="896112"/>
          </a:xfrm>
          <a:prstGeom prst="rect">
            <a:avLst/>
          </a:prstGeom>
          <a:noFill/>
        </p:spPr>
        <p:txBody>
          <a:bodyPr wrap="square" lIns="0" tIns="0" rIns="0" bIns="0">
            <a:spAutoFit/>
          </a:bodyPr>
          <a:lstStyle/>
          <a:p>
            <a:pPr>
              <a:defRPr sz="1100">
                <a:solidFill>
                  <a:srgbClr val="C4B9A8"/>
                </a:solidFill>
                <a:latin typeface="Calibri"/>
              </a:defRPr>
            </a:pPr>
            <a:r>
              <a:t>Implements a greedy spatial proximity heuristic that calculates real-time walking distance from open stalls to destination blocks. Arriving vehicles are instantly assigned the optimal vacant stall, eliminating aimless cruising.</a:t>
            </a:r>
          </a:p>
        </p:txBody>
      </p:sp>
      <p:sp>
        <p:nvSpPr>
          <p:cNvPr id="11" name="Rounded Rectangle 10"/>
          <p:cNvSpPr/>
          <p:nvPr/>
        </p:nvSpPr>
        <p:spPr>
          <a:xfrm>
            <a:off x="6208776" y="1719072"/>
            <a:ext cx="5248656" cy="1847088"/>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27064" y="1719072"/>
            <a:ext cx="5212080" cy="3657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83664"/>
            <a:ext cx="4809744" cy="201168"/>
          </a:xfrm>
          <a:prstGeom prst="rect">
            <a:avLst/>
          </a:prstGeom>
          <a:noFill/>
        </p:spPr>
        <p:txBody>
          <a:bodyPr wrap="none" lIns="0" tIns="0" rIns="0" bIns="0">
            <a:spAutoFit/>
          </a:bodyPr>
          <a:lstStyle/>
          <a:p>
            <a:pPr>
              <a:defRPr sz="950" b="1">
                <a:solidFill>
                  <a:srgbClr val="34D399"/>
                </a:solidFill>
                <a:latin typeface="Calibri"/>
              </a:defRPr>
            </a:pPr>
            <a:r>
              <a:t>02 / FASTAG &amp; BHARAT UPI</a:t>
            </a:r>
          </a:p>
        </p:txBody>
      </p:sp>
      <p:sp>
        <p:nvSpPr>
          <p:cNvPr id="14" name="TextBox 13"/>
          <p:cNvSpPr txBox="1"/>
          <p:nvPr/>
        </p:nvSpPr>
        <p:spPr>
          <a:xfrm>
            <a:off x="6428232" y="2139696"/>
            <a:ext cx="4809744" cy="329184"/>
          </a:xfrm>
          <a:prstGeom prst="rect">
            <a:avLst/>
          </a:prstGeom>
          <a:noFill/>
        </p:spPr>
        <p:txBody>
          <a:bodyPr wrap="square" lIns="0" tIns="0" rIns="0" bIns="0">
            <a:spAutoFit/>
          </a:bodyPr>
          <a:lstStyle/>
          <a:p>
            <a:pPr>
              <a:defRPr sz="1400" b="1">
                <a:solidFill>
                  <a:srgbClr val="F4E8D2"/>
                </a:solidFill>
                <a:latin typeface="Arial"/>
              </a:defRPr>
            </a:pPr>
            <a:r>
              <a:t>Frictionless Contactless Settlement</a:t>
            </a:r>
          </a:p>
        </p:txBody>
      </p:sp>
      <p:sp>
        <p:nvSpPr>
          <p:cNvPr id="15" name="TextBox 14"/>
          <p:cNvSpPr txBox="1"/>
          <p:nvPr/>
        </p:nvSpPr>
        <p:spPr>
          <a:xfrm>
            <a:off x="6428232" y="2542032"/>
            <a:ext cx="4809744" cy="896112"/>
          </a:xfrm>
          <a:prstGeom prst="rect">
            <a:avLst/>
          </a:prstGeom>
          <a:noFill/>
        </p:spPr>
        <p:txBody>
          <a:bodyPr wrap="square" lIns="0" tIns="0" rIns="0" bIns="0">
            <a:spAutoFit/>
          </a:bodyPr>
          <a:lstStyle/>
          <a:p>
            <a:pPr>
              <a:defRPr sz="1100">
                <a:solidFill>
                  <a:srgbClr val="C4B9A8"/>
                </a:solidFill>
                <a:latin typeface="Calibri"/>
              </a:defRPr>
            </a:pPr>
            <a:r>
              <a:t>Integrates 5.8 GHz RFID FASTag toll protocols and dynamic Bharat UPI QR codes. Entrance barrier lifts automatically in 1.8 seconds, and billing deducts upon exit with zero cash interaction or manual ticketing delay.</a:t>
            </a:r>
          </a:p>
        </p:txBody>
      </p:sp>
      <p:sp>
        <p:nvSpPr>
          <p:cNvPr id="16" name="Rounded Rectangle 15"/>
          <p:cNvSpPr/>
          <p:nvPr/>
        </p:nvSpPr>
        <p:spPr>
          <a:xfrm>
            <a:off x="731520" y="3712463"/>
            <a:ext cx="5248656" cy="1847088"/>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9808" y="3712463"/>
            <a:ext cx="5212080" cy="36576"/>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3877055"/>
            <a:ext cx="4809744" cy="201168"/>
          </a:xfrm>
          <a:prstGeom prst="rect">
            <a:avLst/>
          </a:prstGeom>
          <a:noFill/>
        </p:spPr>
        <p:txBody>
          <a:bodyPr wrap="none" lIns="0" tIns="0" rIns="0" bIns="0">
            <a:spAutoFit/>
          </a:bodyPr>
          <a:lstStyle/>
          <a:p>
            <a:pPr>
              <a:defRPr sz="950" b="1">
                <a:solidFill>
                  <a:srgbClr val="60A5FA"/>
                </a:solidFill>
                <a:latin typeface="Calibri"/>
              </a:defRPr>
            </a:pPr>
            <a:r>
              <a:t>03 / HSRP ANPR VALIDATION</a:t>
            </a:r>
          </a:p>
        </p:txBody>
      </p:sp>
      <p:sp>
        <p:nvSpPr>
          <p:cNvPr id="19" name="TextBox 18"/>
          <p:cNvSpPr txBox="1"/>
          <p:nvPr/>
        </p:nvSpPr>
        <p:spPr>
          <a:xfrm>
            <a:off x="950976" y="4133087"/>
            <a:ext cx="4809744" cy="329184"/>
          </a:xfrm>
          <a:prstGeom prst="rect">
            <a:avLst/>
          </a:prstGeom>
          <a:noFill/>
        </p:spPr>
        <p:txBody>
          <a:bodyPr wrap="square" lIns="0" tIns="0" rIns="0" bIns="0">
            <a:spAutoFit/>
          </a:bodyPr>
          <a:lstStyle/>
          <a:p>
            <a:pPr>
              <a:defRPr sz="1400" b="1">
                <a:solidFill>
                  <a:srgbClr val="F4E8D2"/>
                </a:solidFill>
                <a:latin typeface="Arial"/>
              </a:defRPr>
            </a:pPr>
            <a:r>
              <a:t>Computer Vision Plate Verification</a:t>
            </a:r>
          </a:p>
        </p:txBody>
      </p:sp>
      <p:sp>
        <p:nvSpPr>
          <p:cNvPr id="20" name="TextBox 19"/>
          <p:cNvSpPr txBox="1"/>
          <p:nvPr/>
        </p:nvSpPr>
        <p:spPr>
          <a:xfrm>
            <a:off x="950976" y="4535423"/>
            <a:ext cx="4809744" cy="896112"/>
          </a:xfrm>
          <a:prstGeom prst="rect">
            <a:avLst/>
          </a:prstGeom>
          <a:noFill/>
        </p:spPr>
        <p:txBody>
          <a:bodyPr wrap="square" lIns="0" tIns="0" rIns="0" bIns="0">
            <a:spAutoFit/>
          </a:bodyPr>
          <a:lstStyle/>
          <a:p>
            <a:pPr>
              <a:defRPr sz="1100">
                <a:solidFill>
                  <a:srgbClr val="C4B9A8"/>
                </a:solidFill>
                <a:latin typeface="Calibri"/>
              </a:defRPr>
            </a:pPr>
            <a:r>
              <a:t>Dual-camera OCR pipeline captures and verifies High-Security Registration Plates (HSRP) in under 200 milliseconds. Matches vehicles against authorized campus database registries to enforce secure access control.</a:t>
            </a:r>
          </a:p>
        </p:txBody>
      </p:sp>
      <p:sp>
        <p:nvSpPr>
          <p:cNvPr id="21" name="Rounded Rectangle 20"/>
          <p:cNvSpPr/>
          <p:nvPr/>
        </p:nvSpPr>
        <p:spPr>
          <a:xfrm>
            <a:off x="6208776" y="3712463"/>
            <a:ext cx="5248656" cy="1847088"/>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27064" y="3712463"/>
            <a:ext cx="5212080" cy="36576"/>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8232" y="3877055"/>
            <a:ext cx="4809744" cy="201168"/>
          </a:xfrm>
          <a:prstGeom prst="rect">
            <a:avLst/>
          </a:prstGeom>
          <a:noFill/>
        </p:spPr>
        <p:txBody>
          <a:bodyPr wrap="none" lIns="0" tIns="0" rIns="0" bIns="0">
            <a:spAutoFit/>
          </a:bodyPr>
          <a:lstStyle/>
          <a:p>
            <a:pPr>
              <a:defRPr sz="950" b="1">
                <a:solidFill>
                  <a:srgbClr val="FBBF24"/>
                </a:solidFill>
                <a:latin typeface="Calibri"/>
              </a:defRPr>
            </a:pPr>
            <a:r>
              <a:t>04 / REACTIVE MERN TWIN</a:t>
            </a:r>
          </a:p>
        </p:txBody>
      </p:sp>
      <p:sp>
        <p:nvSpPr>
          <p:cNvPr id="24" name="TextBox 23"/>
          <p:cNvSpPr txBox="1"/>
          <p:nvPr/>
        </p:nvSpPr>
        <p:spPr>
          <a:xfrm>
            <a:off x="6428232" y="4133087"/>
            <a:ext cx="4809744" cy="329184"/>
          </a:xfrm>
          <a:prstGeom prst="rect">
            <a:avLst/>
          </a:prstGeom>
          <a:noFill/>
        </p:spPr>
        <p:txBody>
          <a:bodyPr wrap="square" lIns="0" tIns="0" rIns="0" bIns="0">
            <a:spAutoFit/>
          </a:bodyPr>
          <a:lstStyle/>
          <a:p>
            <a:pPr>
              <a:defRPr sz="1400" b="1">
                <a:solidFill>
                  <a:srgbClr val="F4E8D2"/>
                </a:solidFill>
                <a:latin typeface="Arial"/>
              </a:defRPr>
            </a:pPr>
            <a:r>
              <a:t>Real-Time WebSocket Control Plane</a:t>
            </a:r>
          </a:p>
        </p:txBody>
      </p:sp>
      <p:sp>
        <p:nvSpPr>
          <p:cNvPr id="25" name="TextBox 24"/>
          <p:cNvSpPr txBox="1"/>
          <p:nvPr/>
        </p:nvSpPr>
        <p:spPr>
          <a:xfrm>
            <a:off x="6428232" y="4535423"/>
            <a:ext cx="4809744" cy="896112"/>
          </a:xfrm>
          <a:prstGeom prst="rect">
            <a:avLst/>
          </a:prstGeom>
          <a:noFill/>
        </p:spPr>
        <p:txBody>
          <a:bodyPr wrap="square" lIns="0" tIns="0" rIns="0" bIns="0">
            <a:spAutoFit/>
          </a:bodyPr>
          <a:lstStyle/>
          <a:p>
            <a:pPr>
              <a:defRPr sz="1100">
                <a:solidFill>
                  <a:srgbClr val="C4B9A8"/>
                </a:solidFill>
                <a:latin typeface="Calibri"/>
              </a:defRPr>
            </a:pPr>
            <a:r>
              <a:t>Full-stack MERN architecture powered by persistent WebSocket duplex streams. Pushes instant slot status mutations across 48 bays to administrative monitors and driver mobile dashboards without polling overhead.</a:t>
            </a:r>
          </a:p>
        </p:txBody>
      </p:sp>
      <p:sp>
        <p:nvSpPr>
          <p:cNvPr id="26" name="Rounded Rectangle 25"/>
          <p:cNvSpPr/>
          <p:nvPr/>
        </p:nvSpPr>
        <p:spPr>
          <a:xfrm>
            <a:off x="731520" y="5687568"/>
            <a:ext cx="10728655" cy="457200"/>
          </a:xfrm>
          <a:prstGeom prst="roundRect">
            <a:avLst/>
          </a:prstGeom>
          <a:solidFill>
            <a:srgbClr val="28303F"/>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760720"/>
            <a:ext cx="10360152" cy="310896"/>
          </a:xfrm>
          <a:prstGeom prst="rect">
            <a:avLst/>
          </a:prstGeom>
          <a:noFill/>
        </p:spPr>
        <p:txBody>
          <a:bodyPr wrap="none" lIns="0" tIns="0" rIns="0" bIns="0">
            <a:spAutoFit/>
          </a:bodyPr>
          <a:lstStyle/>
          <a:p>
            <a:pPr>
              <a:defRPr sz="1050" b="1">
                <a:solidFill>
                  <a:srgbClr val="F4E8D2"/>
                </a:solidFill>
                <a:latin typeface="Calibri"/>
              </a:defRPr>
            </a:pPr>
            <a:r>
              <a:t>CORE INNOVATION ADVANTAGE: Seamless hardware-agnostic sensor fusion coupled with indigenous Indian digital payment protocols.</a:t>
            </a:r>
          </a:p>
        </p:txBody>
      </p:sp>
      <p:sp>
        <p:nvSpPr>
          <p:cNvPr id="28" name="Rectangle 27"/>
          <p:cNvSpPr/>
          <p:nvPr/>
        </p:nvSpPr>
        <p:spPr>
          <a:xfrm>
            <a:off x="731520" y="6254496"/>
            <a:ext cx="10728655" cy="13716"/>
          </a:xfrm>
          <a:prstGeom prst="rect">
            <a:avLst/>
          </a:prstGeom>
          <a:solidFill>
            <a:srgbClr val="384458"/>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6327648"/>
            <a:ext cx="7772400" cy="256032"/>
          </a:xfrm>
          <a:prstGeom prst="rect">
            <a:avLst/>
          </a:prstGeom>
          <a:noFill/>
        </p:spPr>
        <p:txBody>
          <a:bodyPr wrap="none" lIns="0" tIns="0">
            <a:spAutoFit/>
          </a:bodyPr>
          <a:lstStyle/>
          <a:p>
            <a:pPr>
              <a:defRPr sz="950" b="1">
                <a:solidFill>
                  <a:srgbClr val="C4B9A8"/>
                </a:solidFill>
                <a:latin typeface="Calibri"/>
              </a:defRPr>
            </a:pPr>
            <a:r>
              <a:t>PROBLEM 36 | SMART PARKING MANAGEMENT SYSTEM</a:t>
            </a:r>
          </a:p>
        </p:txBody>
      </p:sp>
      <p:sp>
        <p:nvSpPr>
          <p:cNvPr id="30" name="TextBox 29"/>
          <p:cNvSpPr txBox="1"/>
          <p:nvPr/>
        </p:nvSpPr>
        <p:spPr>
          <a:xfrm>
            <a:off x="10058400" y="6327648"/>
            <a:ext cx="1401775" cy="256032"/>
          </a:xfrm>
          <a:prstGeom prst="rect">
            <a:avLst/>
          </a:prstGeom>
          <a:noFill/>
        </p:spPr>
        <p:txBody>
          <a:bodyPr wrap="none" rIns="0" tIns="0">
            <a:spAutoFit/>
          </a:bodyPr>
          <a:lstStyle/>
          <a:p>
            <a:pPr algn="r">
              <a:defRPr sz="950" b="1">
                <a:solidFill>
                  <a:srgbClr val="F4E8D2"/>
                </a:solidFill>
                <a:latin typeface="Calibri"/>
              </a:defRPr>
            </a:pPr>
            <a:r>
              <a:t>03 / 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02632"/>
        </a:solidFill>
        <a:effectLst/>
      </p:bgPr>
    </p:bg>
    <p:spTree>
      <p:nvGrpSpPr>
        <p:cNvPr id="1" name=""/>
        <p:cNvGrpSpPr/>
        <p:nvPr/>
      </p:nvGrpSpPr>
      <p:grpSpPr/>
      <p:sp>
        <p:nvSpPr>
          <p:cNvPr id="2" name="Rounded Rectangle 1"/>
          <p:cNvSpPr/>
          <p:nvPr/>
        </p:nvSpPr>
        <p:spPr>
          <a:xfrm>
            <a:off x="731520" y="384048"/>
            <a:ext cx="2560320" cy="256032"/>
          </a:xfrm>
          <a:prstGeom prst="roundRect">
            <a:avLst/>
          </a:prstGeom>
          <a:solidFill>
            <a:srgbClr val="28303F"/>
          </a:solidFill>
          <a:ln w="12700">
            <a:solidFill>
              <a:srgbClr val="4B5A7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defRPr sz="1000" b="1">
                <a:solidFill>
                  <a:srgbClr val="F4E8D2"/>
                </a:solidFill>
                <a:latin typeface="Calibri"/>
              </a:defRPr>
            </a:pPr>
            <a:r>
              <a:t>HOW IT WORKS</a:t>
            </a:r>
          </a:p>
        </p:txBody>
      </p:sp>
      <p:sp>
        <p:nvSpPr>
          <p:cNvPr id="3" name="TextBox 2"/>
          <p:cNvSpPr txBox="1"/>
          <p:nvPr/>
        </p:nvSpPr>
        <p:spPr>
          <a:xfrm>
            <a:off x="731520" y="676656"/>
            <a:ext cx="10725912" cy="475488"/>
          </a:xfrm>
          <a:prstGeom prst="rect">
            <a:avLst/>
          </a:prstGeom>
          <a:noFill/>
        </p:spPr>
        <p:txBody>
          <a:bodyPr wrap="square" lIns="0" tIns="0" rIns="0" bIns="0">
            <a:spAutoFit/>
          </a:bodyPr>
          <a:lstStyle/>
          <a:p>
            <a:pPr>
              <a:defRPr sz="2200" b="1">
                <a:solidFill>
                  <a:srgbClr val="F4E8D2"/>
                </a:solidFill>
                <a:latin typeface="Arial"/>
              </a:defRPr>
            </a:pPr>
            <a:r>
              <a:t>From physical vehicle ingress to automated settlement in four stages.</a:t>
            </a:r>
          </a:p>
        </p:txBody>
      </p:sp>
      <p:sp>
        <p:nvSpPr>
          <p:cNvPr id="4" name="TextBox 3"/>
          <p:cNvSpPr txBox="1"/>
          <p:nvPr/>
        </p:nvSpPr>
        <p:spPr>
          <a:xfrm>
            <a:off x="731520" y="1170432"/>
            <a:ext cx="10725912" cy="329184"/>
          </a:xfrm>
          <a:prstGeom prst="rect">
            <a:avLst/>
          </a:prstGeom>
          <a:noFill/>
        </p:spPr>
        <p:txBody>
          <a:bodyPr wrap="square" lIns="0" tIns="0" rIns="0" bIns="0">
            <a:spAutoFit/>
          </a:bodyPr>
          <a:lstStyle/>
          <a:p>
            <a:pPr>
              <a:defRPr sz="1150">
                <a:solidFill>
                  <a:srgbClr val="C4B9A8"/>
                </a:solidFill>
                <a:latin typeface="Calibri"/>
              </a:defRPr>
            </a:pPr>
            <a:r>
              <a:t>A resilient data pipeline connecting IoT edge sensors to the centralized MERN control plane.</a:t>
            </a:r>
          </a:p>
        </p:txBody>
      </p:sp>
      <p:sp>
        <p:nvSpPr>
          <p:cNvPr id="5" name="Rectangle 4"/>
          <p:cNvSpPr/>
          <p:nvPr/>
        </p:nvSpPr>
        <p:spPr>
          <a:xfrm>
            <a:off x="731520" y="1536192"/>
            <a:ext cx="10728655" cy="13716"/>
          </a:xfrm>
          <a:prstGeom prst="rect">
            <a:avLst/>
          </a:prstGeom>
          <a:solidFill>
            <a:srgbClr val="384458"/>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19072"/>
            <a:ext cx="10728655" cy="384048"/>
          </a:xfrm>
          <a:prstGeom prst="roundRect">
            <a:avLst/>
          </a:prstGeom>
          <a:solidFill>
            <a:srgbClr val="28303F"/>
          </a:solidFill>
          <a:ln>
            <a:solidFill>
              <a:srgbClr val="4B5A73"/>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1050" b="1">
                <a:solidFill>
                  <a:srgbClr val="F4E8D2"/>
                </a:solidFill>
                <a:latin typeface="Arial"/>
              </a:defRPr>
            </a:pPr>
            <a:r>
              <a:t>STAGE 01: INGRESS &amp; SENSING    ›    STAGE 02: API GATEWAY    ›    STAGE 03: ALLOCATION ALGORITHM    ›    STAGE 04: EGRESS &amp; BILLING</a:t>
            </a:r>
          </a:p>
        </p:txBody>
      </p:sp>
      <p:sp>
        <p:nvSpPr>
          <p:cNvPr id="7" name="Rounded Rectangle 6"/>
          <p:cNvSpPr/>
          <p:nvPr/>
        </p:nvSpPr>
        <p:spPr>
          <a:xfrm>
            <a:off x="731520" y="2249424"/>
            <a:ext cx="2542032" cy="3108960"/>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2249424"/>
            <a:ext cx="2505456" cy="36576"/>
          </a:xfrm>
          <a:prstGeom prst="rect">
            <a:avLst/>
          </a:prstGeom>
          <a:solidFill>
            <a:srgbClr val="F4E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414016"/>
            <a:ext cx="2212848" cy="201168"/>
          </a:xfrm>
          <a:prstGeom prst="rect">
            <a:avLst/>
          </a:prstGeom>
          <a:noFill/>
        </p:spPr>
        <p:txBody>
          <a:bodyPr wrap="none" lIns="0" tIns="0" rIns="0" bIns="0">
            <a:spAutoFit/>
          </a:bodyPr>
          <a:lstStyle/>
          <a:p>
            <a:pPr>
              <a:defRPr sz="950" b="1">
                <a:solidFill>
                  <a:srgbClr val="F4E8D2"/>
                </a:solidFill>
                <a:latin typeface="Calibri"/>
              </a:defRPr>
            </a:pPr>
            <a:r>
              <a:t>STAGE 01</a:t>
            </a:r>
          </a:p>
        </p:txBody>
      </p:sp>
      <p:sp>
        <p:nvSpPr>
          <p:cNvPr id="10" name="TextBox 9"/>
          <p:cNvSpPr txBox="1"/>
          <p:nvPr/>
        </p:nvSpPr>
        <p:spPr>
          <a:xfrm>
            <a:off x="896112" y="2651760"/>
            <a:ext cx="2212848" cy="347472"/>
          </a:xfrm>
          <a:prstGeom prst="rect">
            <a:avLst/>
          </a:prstGeom>
          <a:noFill/>
        </p:spPr>
        <p:txBody>
          <a:bodyPr wrap="square" lIns="0" tIns="0" rIns="0" bIns="0">
            <a:spAutoFit/>
          </a:bodyPr>
          <a:lstStyle/>
          <a:p>
            <a:pPr>
              <a:defRPr sz="1300" b="1">
                <a:solidFill>
                  <a:srgbClr val="F4E8D2"/>
                </a:solidFill>
                <a:latin typeface="Arial"/>
              </a:defRPr>
            </a:pPr>
            <a:r>
              <a:t>Ingress &amp; Sensing</a:t>
            </a:r>
          </a:p>
        </p:txBody>
      </p:sp>
      <p:sp>
        <p:nvSpPr>
          <p:cNvPr id="11" name="TextBox 10"/>
          <p:cNvSpPr txBox="1"/>
          <p:nvPr/>
        </p:nvSpPr>
        <p:spPr>
          <a:xfrm>
            <a:off x="896112" y="3090672"/>
            <a:ext cx="2212848" cy="658368"/>
          </a:xfrm>
          <a:prstGeom prst="rect">
            <a:avLst/>
          </a:prstGeom>
          <a:noFill/>
        </p:spPr>
        <p:txBody>
          <a:bodyPr wrap="square" lIns="0" tIns="0" rIns="0" bIns="0">
            <a:spAutoFit/>
          </a:bodyPr>
          <a:lstStyle/>
          <a:p>
            <a:pPr>
              <a:defRPr sz="1000" b="1">
                <a:solidFill>
                  <a:srgbClr val="F4E8D2"/>
                </a:solidFill>
                <a:latin typeface="Calibri"/>
              </a:defRPr>
            </a:pPr>
            <a:r>
              <a:t>• Ultrasonic Stall Sensors</a:t>
            </a:r>
          </a:p>
          <a:p>
            <a:pPr>
              <a:defRPr sz="950">
                <a:solidFill>
                  <a:srgbClr val="C4B9A8"/>
                </a:solidFill>
                <a:latin typeface="Calibri"/>
              </a:defRPr>
            </a:pPr>
            <a:r>
              <a:t>Mounted on ceilings/ground to monitor stall occupancy states.</a:t>
            </a:r>
          </a:p>
        </p:txBody>
      </p:sp>
      <p:sp>
        <p:nvSpPr>
          <p:cNvPr id="12" name="TextBox 11"/>
          <p:cNvSpPr txBox="1"/>
          <p:nvPr/>
        </p:nvSpPr>
        <p:spPr>
          <a:xfrm>
            <a:off x="896112" y="3803904"/>
            <a:ext cx="2212848" cy="658368"/>
          </a:xfrm>
          <a:prstGeom prst="rect">
            <a:avLst/>
          </a:prstGeom>
          <a:noFill/>
        </p:spPr>
        <p:txBody>
          <a:bodyPr wrap="square" lIns="0" tIns="0" rIns="0" bIns="0">
            <a:spAutoFit/>
          </a:bodyPr>
          <a:lstStyle/>
          <a:p>
            <a:pPr>
              <a:defRPr sz="1000" b="1">
                <a:solidFill>
                  <a:srgbClr val="F4E8D2"/>
                </a:solidFill>
                <a:latin typeface="Calibri"/>
              </a:defRPr>
            </a:pPr>
            <a:r>
              <a:t>• ANPR Plate Recognition</a:t>
            </a:r>
          </a:p>
          <a:p>
            <a:pPr>
              <a:defRPr sz="950">
                <a:solidFill>
                  <a:srgbClr val="C4B9A8"/>
                </a:solidFill>
                <a:latin typeface="Calibri"/>
              </a:defRPr>
            </a:pPr>
            <a:r>
              <a:t>Dual-lens camera captures HSRP license plate in 180 ms.</a:t>
            </a:r>
          </a:p>
        </p:txBody>
      </p:sp>
      <p:sp>
        <p:nvSpPr>
          <p:cNvPr id="13" name="TextBox 12"/>
          <p:cNvSpPr txBox="1"/>
          <p:nvPr/>
        </p:nvSpPr>
        <p:spPr>
          <a:xfrm>
            <a:off x="896112" y="4517136"/>
            <a:ext cx="2212848" cy="658368"/>
          </a:xfrm>
          <a:prstGeom prst="rect">
            <a:avLst/>
          </a:prstGeom>
          <a:noFill/>
        </p:spPr>
        <p:txBody>
          <a:bodyPr wrap="square" lIns="0" tIns="0" rIns="0" bIns="0">
            <a:spAutoFit/>
          </a:bodyPr>
          <a:lstStyle/>
          <a:p>
            <a:pPr>
              <a:defRPr sz="1000" b="1">
                <a:solidFill>
                  <a:srgbClr val="F4E8D2"/>
                </a:solidFill>
                <a:latin typeface="Calibri"/>
              </a:defRPr>
            </a:pPr>
            <a:r>
              <a:t>• 5.8 GHz RFID Reader</a:t>
            </a:r>
          </a:p>
          <a:p>
            <a:pPr>
              <a:defRPr sz="950">
                <a:solidFill>
                  <a:srgbClr val="C4B9A8"/>
                </a:solidFill>
                <a:latin typeface="Calibri"/>
              </a:defRPr>
            </a:pPr>
            <a:r>
              <a:t>Scans windshield FASTag transponder for identity verification.</a:t>
            </a:r>
          </a:p>
        </p:txBody>
      </p:sp>
      <p:sp>
        <p:nvSpPr>
          <p:cNvPr id="14" name="Rounded Rectangle 13"/>
          <p:cNvSpPr/>
          <p:nvPr/>
        </p:nvSpPr>
        <p:spPr>
          <a:xfrm>
            <a:off x="3456432" y="2249424"/>
            <a:ext cx="2542032" cy="3108960"/>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2249424"/>
            <a:ext cx="2505456" cy="36576"/>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2414016"/>
            <a:ext cx="2212848" cy="201168"/>
          </a:xfrm>
          <a:prstGeom prst="rect">
            <a:avLst/>
          </a:prstGeom>
          <a:noFill/>
        </p:spPr>
        <p:txBody>
          <a:bodyPr wrap="none" lIns="0" tIns="0" rIns="0" bIns="0">
            <a:spAutoFit/>
          </a:bodyPr>
          <a:lstStyle/>
          <a:p>
            <a:pPr>
              <a:defRPr sz="950" b="1">
                <a:solidFill>
                  <a:srgbClr val="60A5FA"/>
                </a:solidFill>
                <a:latin typeface="Calibri"/>
              </a:defRPr>
            </a:pPr>
            <a:r>
              <a:t>STAGE 02</a:t>
            </a:r>
          </a:p>
        </p:txBody>
      </p:sp>
      <p:sp>
        <p:nvSpPr>
          <p:cNvPr id="17" name="TextBox 16"/>
          <p:cNvSpPr txBox="1"/>
          <p:nvPr/>
        </p:nvSpPr>
        <p:spPr>
          <a:xfrm>
            <a:off x="3621024" y="2651760"/>
            <a:ext cx="2212848" cy="347472"/>
          </a:xfrm>
          <a:prstGeom prst="rect">
            <a:avLst/>
          </a:prstGeom>
          <a:noFill/>
        </p:spPr>
        <p:txBody>
          <a:bodyPr wrap="square" lIns="0" tIns="0" rIns="0" bIns="0">
            <a:spAutoFit/>
          </a:bodyPr>
          <a:lstStyle/>
          <a:p>
            <a:pPr>
              <a:defRPr sz="1300" b="1">
                <a:solidFill>
                  <a:srgbClr val="F4E8D2"/>
                </a:solidFill>
                <a:latin typeface="Arial"/>
              </a:defRPr>
            </a:pPr>
            <a:r>
              <a:t>API Gateway &amp; Auth</a:t>
            </a:r>
          </a:p>
        </p:txBody>
      </p:sp>
      <p:sp>
        <p:nvSpPr>
          <p:cNvPr id="18" name="TextBox 17"/>
          <p:cNvSpPr txBox="1"/>
          <p:nvPr/>
        </p:nvSpPr>
        <p:spPr>
          <a:xfrm>
            <a:off x="3621024" y="3090672"/>
            <a:ext cx="2212848" cy="658368"/>
          </a:xfrm>
          <a:prstGeom prst="rect">
            <a:avLst/>
          </a:prstGeom>
          <a:noFill/>
        </p:spPr>
        <p:txBody>
          <a:bodyPr wrap="square" lIns="0" tIns="0" rIns="0" bIns="0">
            <a:spAutoFit/>
          </a:bodyPr>
          <a:lstStyle/>
          <a:p>
            <a:pPr>
              <a:defRPr sz="1000" b="1">
                <a:solidFill>
                  <a:srgbClr val="F4E8D2"/>
                </a:solidFill>
                <a:latin typeface="Calibri"/>
              </a:defRPr>
            </a:pPr>
            <a:r>
              <a:t>• Express.js Microservices</a:t>
            </a:r>
          </a:p>
          <a:p>
            <a:pPr>
              <a:defRPr sz="950">
                <a:solidFill>
                  <a:srgbClr val="C4B9A8"/>
                </a:solidFill>
                <a:latin typeface="Calibri"/>
              </a:defRPr>
            </a:pPr>
            <a:r>
              <a:t>Handles authenticated REST endpoints and WebSocket events.</a:t>
            </a:r>
          </a:p>
        </p:txBody>
      </p:sp>
      <p:sp>
        <p:nvSpPr>
          <p:cNvPr id="19" name="TextBox 18"/>
          <p:cNvSpPr txBox="1"/>
          <p:nvPr/>
        </p:nvSpPr>
        <p:spPr>
          <a:xfrm>
            <a:off x="3621024" y="3803904"/>
            <a:ext cx="2212848" cy="658368"/>
          </a:xfrm>
          <a:prstGeom prst="rect">
            <a:avLst/>
          </a:prstGeom>
          <a:noFill/>
        </p:spPr>
        <p:txBody>
          <a:bodyPr wrap="square" lIns="0" tIns="0" rIns="0" bIns="0">
            <a:spAutoFit/>
          </a:bodyPr>
          <a:lstStyle/>
          <a:p>
            <a:pPr>
              <a:defRPr sz="1000" b="1">
                <a:solidFill>
                  <a:srgbClr val="F4E8D2"/>
                </a:solidFill>
                <a:latin typeface="Calibri"/>
              </a:defRPr>
            </a:pPr>
            <a:r>
              <a:t>• JWT Session Verification</a:t>
            </a:r>
          </a:p>
          <a:p>
            <a:pPr>
              <a:defRPr sz="950">
                <a:solidFill>
                  <a:srgbClr val="C4B9A8"/>
                </a:solidFill>
                <a:latin typeface="Calibri"/>
              </a:defRPr>
            </a:pPr>
            <a:r>
              <a:t>Secures driver transactions and operator control actions.</a:t>
            </a:r>
          </a:p>
        </p:txBody>
      </p:sp>
      <p:sp>
        <p:nvSpPr>
          <p:cNvPr id="20" name="TextBox 19"/>
          <p:cNvSpPr txBox="1"/>
          <p:nvPr/>
        </p:nvSpPr>
        <p:spPr>
          <a:xfrm>
            <a:off x="3621024" y="4517136"/>
            <a:ext cx="2212848" cy="658368"/>
          </a:xfrm>
          <a:prstGeom prst="rect">
            <a:avLst/>
          </a:prstGeom>
          <a:noFill/>
        </p:spPr>
        <p:txBody>
          <a:bodyPr wrap="square" lIns="0" tIns="0" rIns="0" bIns="0">
            <a:spAutoFit/>
          </a:bodyPr>
          <a:lstStyle/>
          <a:p>
            <a:pPr>
              <a:defRPr sz="1000" b="1">
                <a:solidFill>
                  <a:srgbClr val="F4E8D2"/>
                </a:solidFill>
                <a:latin typeface="Calibri"/>
              </a:defRPr>
            </a:pPr>
            <a:r>
              <a:t>• Asynchronous Job Dispatch</a:t>
            </a:r>
          </a:p>
          <a:p>
            <a:pPr>
              <a:defRPr sz="950">
                <a:solidFill>
                  <a:srgbClr val="C4B9A8"/>
                </a:solidFill>
                <a:latin typeface="Calibri"/>
              </a:defRPr>
            </a:pPr>
            <a:r>
              <a:t>Pushes incoming transit payloads into high-throughput queue.</a:t>
            </a:r>
          </a:p>
        </p:txBody>
      </p:sp>
      <p:sp>
        <p:nvSpPr>
          <p:cNvPr id="21" name="Rounded Rectangle 20"/>
          <p:cNvSpPr/>
          <p:nvPr/>
        </p:nvSpPr>
        <p:spPr>
          <a:xfrm>
            <a:off x="6181344" y="2249424"/>
            <a:ext cx="2542032" cy="3108960"/>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9632" y="2249424"/>
            <a:ext cx="2505456" cy="3657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45936" y="2414016"/>
            <a:ext cx="2212848" cy="201168"/>
          </a:xfrm>
          <a:prstGeom prst="rect">
            <a:avLst/>
          </a:prstGeom>
          <a:noFill/>
        </p:spPr>
        <p:txBody>
          <a:bodyPr wrap="none" lIns="0" tIns="0" rIns="0" bIns="0">
            <a:spAutoFit/>
          </a:bodyPr>
          <a:lstStyle/>
          <a:p>
            <a:pPr>
              <a:defRPr sz="950" b="1">
                <a:solidFill>
                  <a:srgbClr val="34D399"/>
                </a:solidFill>
                <a:latin typeface="Calibri"/>
              </a:defRPr>
            </a:pPr>
            <a:r>
              <a:t>STAGE 03</a:t>
            </a:r>
          </a:p>
        </p:txBody>
      </p:sp>
      <p:sp>
        <p:nvSpPr>
          <p:cNvPr id="24" name="TextBox 23"/>
          <p:cNvSpPr txBox="1"/>
          <p:nvPr/>
        </p:nvSpPr>
        <p:spPr>
          <a:xfrm>
            <a:off x="6345936" y="2651760"/>
            <a:ext cx="2212848" cy="347472"/>
          </a:xfrm>
          <a:prstGeom prst="rect">
            <a:avLst/>
          </a:prstGeom>
          <a:noFill/>
        </p:spPr>
        <p:txBody>
          <a:bodyPr wrap="square" lIns="0" tIns="0" rIns="0" bIns="0">
            <a:spAutoFit/>
          </a:bodyPr>
          <a:lstStyle/>
          <a:p>
            <a:pPr>
              <a:defRPr sz="1300" b="1">
                <a:solidFill>
                  <a:srgbClr val="F4E8D2"/>
                </a:solidFill>
                <a:latin typeface="Arial"/>
              </a:defRPr>
            </a:pPr>
            <a:r>
              <a:t>Slot State Engine</a:t>
            </a:r>
          </a:p>
        </p:txBody>
      </p:sp>
      <p:sp>
        <p:nvSpPr>
          <p:cNvPr id="25" name="TextBox 24"/>
          <p:cNvSpPr txBox="1"/>
          <p:nvPr/>
        </p:nvSpPr>
        <p:spPr>
          <a:xfrm>
            <a:off x="6345936" y="3090672"/>
            <a:ext cx="2212848" cy="658368"/>
          </a:xfrm>
          <a:prstGeom prst="rect">
            <a:avLst/>
          </a:prstGeom>
          <a:noFill/>
        </p:spPr>
        <p:txBody>
          <a:bodyPr wrap="square" lIns="0" tIns="0" rIns="0" bIns="0">
            <a:spAutoFit/>
          </a:bodyPr>
          <a:lstStyle/>
          <a:p>
            <a:pPr>
              <a:defRPr sz="1000" b="1">
                <a:solidFill>
                  <a:srgbClr val="F4E8D2"/>
                </a:solidFill>
                <a:latin typeface="Calibri"/>
              </a:defRPr>
            </a:pPr>
            <a:r>
              <a:t>• Nearest-Bay Heuristic</a:t>
            </a:r>
          </a:p>
          <a:p>
            <a:pPr>
              <a:defRPr sz="950">
                <a:solidFill>
                  <a:srgbClr val="C4B9A8"/>
                </a:solidFill>
                <a:latin typeface="Calibri"/>
              </a:defRPr>
            </a:pPr>
            <a:r>
              <a:t>Assigns closest available stall to minimize walking distance.</a:t>
            </a:r>
          </a:p>
        </p:txBody>
      </p:sp>
      <p:sp>
        <p:nvSpPr>
          <p:cNvPr id="26" name="TextBox 25"/>
          <p:cNvSpPr txBox="1"/>
          <p:nvPr/>
        </p:nvSpPr>
        <p:spPr>
          <a:xfrm>
            <a:off x="6345936" y="3803904"/>
            <a:ext cx="2212848" cy="658368"/>
          </a:xfrm>
          <a:prstGeom prst="rect">
            <a:avLst/>
          </a:prstGeom>
          <a:noFill/>
        </p:spPr>
        <p:txBody>
          <a:bodyPr wrap="square" lIns="0" tIns="0" rIns="0" bIns="0">
            <a:spAutoFit/>
          </a:bodyPr>
          <a:lstStyle/>
          <a:p>
            <a:pPr>
              <a:defRPr sz="1000" b="1">
                <a:solidFill>
                  <a:srgbClr val="F4E8D2"/>
                </a:solidFill>
                <a:latin typeface="Calibri"/>
              </a:defRPr>
            </a:pPr>
            <a:r>
              <a:t>• MongoDB BSON Locks</a:t>
            </a:r>
          </a:p>
          <a:p>
            <a:pPr>
              <a:defRPr sz="950">
                <a:solidFill>
                  <a:srgbClr val="C4B9A8"/>
                </a:solidFill>
                <a:latin typeface="Calibri"/>
              </a:defRPr>
            </a:pPr>
            <a:r>
              <a:t>Atomic $set queries prevent simultaneous booking collisions.</a:t>
            </a:r>
          </a:p>
        </p:txBody>
      </p:sp>
      <p:sp>
        <p:nvSpPr>
          <p:cNvPr id="27" name="TextBox 26"/>
          <p:cNvSpPr txBox="1"/>
          <p:nvPr/>
        </p:nvSpPr>
        <p:spPr>
          <a:xfrm>
            <a:off x="6345936" y="4517136"/>
            <a:ext cx="2212848" cy="658368"/>
          </a:xfrm>
          <a:prstGeom prst="rect">
            <a:avLst/>
          </a:prstGeom>
          <a:noFill/>
        </p:spPr>
        <p:txBody>
          <a:bodyPr wrap="square" lIns="0" tIns="0" rIns="0" bIns="0">
            <a:spAutoFit/>
          </a:bodyPr>
          <a:lstStyle/>
          <a:p>
            <a:pPr>
              <a:defRPr sz="1000" b="1">
                <a:solidFill>
                  <a:srgbClr val="F4E8D2"/>
                </a:solidFill>
                <a:latin typeface="Calibri"/>
              </a:defRPr>
            </a:pPr>
            <a:r>
              <a:t>• Socket.io Broadcast</a:t>
            </a:r>
          </a:p>
          <a:p>
            <a:pPr>
              <a:defRPr sz="950">
                <a:solidFill>
                  <a:srgbClr val="C4B9A8"/>
                </a:solidFill>
                <a:latin typeface="Calibri"/>
              </a:defRPr>
            </a:pPr>
            <a:r>
              <a:t>Pushes differential grid state changes across connected clients.</a:t>
            </a:r>
          </a:p>
        </p:txBody>
      </p:sp>
      <p:sp>
        <p:nvSpPr>
          <p:cNvPr id="28" name="Rounded Rectangle 27"/>
          <p:cNvSpPr/>
          <p:nvPr/>
        </p:nvSpPr>
        <p:spPr>
          <a:xfrm>
            <a:off x="8906256" y="2249424"/>
            <a:ext cx="2542032" cy="3108960"/>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24544" y="2249424"/>
            <a:ext cx="2505456" cy="36576"/>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70848" y="2414016"/>
            <a:ext cx="2212848" cy="201168"/>
          </a:xfrm>
          <a:prstGeom prst="rect">
            <a:avLst/>
          </a:prstGeom>
          <a:noFill/>
        </p:spPr>
        <p:txBody>
          <a:bodyPr wrap="none" lIns="0" tIns="0" rIns="0" bIns="0">
            <a:spAutoFit/>
          </a:bodyPr>
          <a:lstStyle/>
          <a:p>
            <a:pPr>
              <a:defRPr sz="950" b="1">
                <a:solidFill>
                  <a:srgbClr val="FBBF24"/>
                </a:solidFill>
                <a:latin typeface="Calibri"/>
              </a:defRPr>
            </a:pPr>
            <a:r>
              <a:t>STAGE 04</a:t>
            </a:r>
          </a:p>
        </p:txBody>
      </p:sp>
      <p:sp>
        <p:nvSpPr>
          <p:cNvPr id="31" name="TextBox 30"/>
          <p:cNvSpPr txBox="1"/>
          <p:nvPr/>
        </p:nvSpPr>
        <p:spPr>
          <a:xfrm>
            <a:off x="9070848" y="2651760"/>
            <a:ext cx="2212848" cy="347472"/>
          </a:xfrm>
          <a:prstGeom prst="rect">
            <a:avLst/>
          </a:prstGeom>
          <a:noFill/>
        </p:spPr>
        <p:txBody>
          <a:bodyPr wrap="square" lIns="0" tIns="0" rIns="0" bIns="0">
            <a:spAutoFit/>
          </a:bodyPr>
          <a:lstStyle/>
          <a:p>
            <a:pPr>
              <a:defRPr sz="1300" b="1">
                <a:solidFill>
                  <a:srgbClr val="F4E8D2"/>
                </a:solidFill>
                <a:latin typeface="Arial"/>
              </a:defRPr>
            </a:pPr>
            <a:r>
              <a:t>Egress &amp; Settlement</a:t>
            </a:r>
          </a:p>
        </p:txBody>
      </p:sp>
      <p:sp>
        <p:nvSpPr>
          <p:cNvPr id="32" name="TextBox 31"/>
          <p:cNvSpPr txBox="1"/>
          <p:nvPr/>
        </p:nvSpPr>
        <p:spPr>
          <a:xfrm>
            <a:off x="9070848" y="3090672"/>
            <a:ext cx="2212848" cy="658368"/>
          </a:xfrm>
          <a:prstGeom prst="rect">
            <a:avLst/>
          </a:prstGeom>
          <a:noFill/>
        </p:spPr>
        <p:txBody>
          <a:bodyPr wrap="square" lIns="0" tIns="0" rIns="0" bIns="0">
            <a:spAutoFit/>
          </a:bodyPr>
          <a:lstStyle/>
          <a:p>
            <a:pPr>
              <a:defRPr sz="1000" b="1">
                <a:solidFill>
                  <a:srgbClr val="F4E8D2"/>
                </a:solidFill>
                <a:latin typeface="Calibri"/>
              </a:defRPr>
            </a:pPr>
            <a:r>
              <a:t>• Exit Barrier Actuation</a:t>
            </a:r>
          </a:p>
          <a:p>
            <a:pPr>
              <a:defRPr sz="950">
                <a:solidFill>
                  <a:srgbClr val="C4B9A8"/>
                </a:solidFill>
                <a:latin typeface="Calibri"/>
              </a:defRPr>
            </a:pPr>
            <a:r>
              <a:t>Optical clearance sensor triggers barrier gate lifting.</a:t>
            </a:r>
          </a:p>
        </p:txBody>
      </p:sp>
      <p:sp>
        <p:nvSpPr>
          <p:cNvPr id="33" name="TextBox 32"/>
          <p:cNvSpPr txBox="1"/>
          <p:nvPr/>
        </p:nvSpPr>
        <p:spPr>
          <a:xfrm>
            <a:off x="9070848" y="3803904"/>
            <a:ext cx="2212848" cy="658368"/>
          </a:xfrm>
          <a:prstGeom prst="rect">
            <a:avLst/>
          </a:prstGeom>
          <a:noFill/>
        </p:spPr>
        <p:txBody>
          <a:bodyPr wrap="square" lIns="0" tIns="0" rIns="0" bIns="0">
            <a:spAutoFit/>
          </a:bodyPr>
          <a:lstStyle/>
          <a:p>
            <a:pPr>
              <a:defRPr sz="1000" b="1">
                <a:solidFill>
                  <a:srgbClr val="F4E8D2"/>
                </a:solidFill>
                <a:latin typeface="Calibri"/>
              </a:defRPr>
            </a:pPr>
            <a:r>
              <a:t>• FASTag Auto-Debit</a:t>
            </a:r>
          </a:p>
          <a:p>
            <a:pPr>
              <a:defRPr sz="950">
                <a:solidFill>
                  <a:srgbClr val="C4B9A8"/>
                </a:solidFill>
                <a:latin typeface="Calibri"/>
              </a:defRPr>
            </a:pPr>
            <a:r>
              <a:t>Deducts tariff automatically from linked NPCI payment wallet.</a:t>
            </a:r>
          </a:p>
        </p:txBody>
      </p:sp>
      <p:sp>
        <p:nvSpPr>
          <p:cNvPr id="34" name="TextBox 33"/>
          <p:cNvSpPr txBox="1"/>
          <p:nvPr/>
        </p:nvSpPr>
        <p:spPr>
          <a:xfrm>
            <a:off x="9070848" y="4517136"/>
            <a:ext cx="2212848" cy="658368"/>
          </a:xfrm>
          <a:prstGeom prst="rect">
            <a:avLst/>
          </a:prstGeom>
          <a:noFill/>
        </p:spPr>
        <p:txBody>
          <a:bodyPr wrap="square" lIns="0" tIns="0" rIns="0" bIns="0">
            <a:spAutoFit/>
          </a:bodyPr>
          <a:lstStyle/>
          <a:p>
            <a:pPr>
              <a:defRPr sz="1000" b="1">
                <a:solidFill>
                  <a:srgbClr val="F4E8D2"/>
                </a:solidFill>
                <a:latin typeface="Calibri"/>
              </a:defRPr>
            </a:pPr>
            <a:r>
              <a:t>• Digital GST Invoice</a:t>
            </a:r>
          </a:p>
          <a:p>
            <a:pPr>
              <a:defRPr sz="950">
                <a:solidFill>
                  <a:srgbClr val="C4B9A8"/>
                </a:solidFill>
                <a:latin typeface="Calibri"/>
              </a:defRPr>
            </a:pPr>
            <a:r>
              <a:t>Generates compliant digital receipt sent via SMS and portal.</a:t>
            </a:r>
          </a:p>
        </p:txBody>
      </p:sp>
      <p:sp>
        <p:nvSpPr>
          <p:cNvPr id="35" name="Rounded Rectangle 34"/>
          <p:cNvSpPr/>
          <p:nvPr/>
        </p:nvSpPr>
        <p:spPr>
          <a:xfrm>
            <a:off x="731520" y="5504688"/>
            <a:ext cx="10728655" cy="640080"/>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596128"/>
            <a:ext cx="10360152" cy="457200"/>
          </a:xfrm>
          <a:prstGeom prst="rect">
            <a:avLst/>
          </a:prstGeom>
          <a:noFill/>
        </p:spPr>
        <p:txBody>
          <a:bodyPr wrap="square" lIns="0" tIns="0" rIns="0" bIns="0">
            <a:spAutoFit/>
          </a:bodyPr>
          <a:lstStyle/>
          <a:p>
            <a:pPr>
              <a:defRPr sz="950" b="1">
                <a:solidFill>
                  <a:srgbClr val="F4E8D2"/>
                </a:solidFill>
                <a:latin typeface="Calibri"/>
              </a:defRPr>
            </a:pPr>
            <a:r>
              <a:t>OPERATIONAL PERFORMANCE GUARANTEE</a:t>
            </a:r>
          </a:p>
          <a:p>
            <a:pPr>
              <a:defRPr sz="1050">
                <a:solidFill>
                  <a:srgbClr val="C4B9A8"/>
                </a:solidFill>
                <a:latin typeface="Calibri"/>
              </a:defRPr>
            </a:pPr>
            <a:r>
              <a:t>Ingress plate scan and barrier clearance executes in under 1.8 seconds. Egress duration calculation, FASTag wallet settlement, and gate clearance finishes in under 2.4 seconds per vehicle.</a:t>
            </a:r>
          </a:p>
        </p:txBody>
      </p:sp>
      <p:sp>
        <p:nvSpPr>
          <p:cNvPr id="37" name="Rectangle 36"/>
          <p:cNvSpPr/>
          <p:nvPr/>
        </p:nvSpPr>
        <p:spPr>
          <a:xfrm>
            <a:off x="731520" y="6254496"/>
            <a:ext cx="10728655" cy="13716"/>
          </a:xfrm>
          <a:prstGeom prst="rect">
            <a:avLst/>
          </a:prstGeom>
          <a:solidFill>
            <a:srgbClr val="384458"/>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6327648"/>
            <a:ext cx="7772400" cy="256032"/>
          </a:xfrm>
          <a:prstGeom prst="rect">
            <a:avLst/>
          </a:prstGeom>
          <a:noFill/>
        </p:spPr>
        <p:txBody>
          <a:bodyPr wrap="none" lIns="0" tIns="0">
            <a:spAutoFit/>
          </a:bodyPr>
          <a:lstStyle/>
          <a:p>
            <a:pPr>
              <a:defRPr sz="950" b="1">
                <a:solidFill>
                  <a:srgbClr val="C4B9A8"/>
                </a:solidFill>
                <a:latin typeface="Calibri"/>
              </a:defRPr>
            </a:pPr>
            <a:r>
              <a:t>PROBLEM 36 | SMART PARKING MANAGEMENT SYSTEM</a:t>
            </a:r>
          </a:p>
        </p:txBody>
      </p:sp>
      <p:sp>
        <p:nvSpPr>
          <p:cNvPr id="39" name="TextBox 38"/>
          <p:cNvSpPr txBox="1"/>
          <p:nvPr/>
        </p:nvSpPr>
        <p:spPr>
          <a:xfrm>
            <a:off x="10058400" y="6327648"/>
            <a:ext cx="1401775" cy="256032"/>
          </a:xfrm>
          <a:prstGeom prst="rect">
            <a:avLst/>
          </a:prstGeom>
          <a:noFill/>
        </p:spPr>
        <p:txBody>
          <a:bodyPr wrap="none" rIns="0" tIns="0">
            <a:spAutoFit/>
          </a:bodyPr>
          <a:lstStyle/>
          <a:p>
            <a:pPr algn="r">
              <a:defRPr sz="950" b="1">
                <a:solidFill>
                  <a:srgbClr val="F4E8D2"/>
                </a:solidFill>
                <a:latin typeface="Calibri"/>
              </a:defRPr>
            </a:pPr>
            <a:r>
              <a:t>04 / 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02632"/>
        </a:solidFill>
        <a:effectLst/>
      </p:bgPr>
    </p:bg>
    <p:spTree>
      <p:nvGrpSpPr>
        <p:cNvPr id="1" name=""/>
        <p:cNvGrpSpPr/>
        <p:nvPr/>
      </p:nvGrpSpPr>
      <p:grpSpPr/>
      <p:sp>
        <p:nvSpPr>
          <p:cNvPr id="2" name="Rounded Rectangle 1"/>
          <p:cNvSpPr/>
          <p:nvPr/>
        </p:nvSpPr>
        <p:spPr>
          <a:xfrm>
            <a:off x="731520" y="384048"/>
            <a:ext cx="2560320" cy="256032"/>
          </a:xfrm>
          <a:prstGeom prst="roundRect">
            <a:avLst/>
          </a:prstGeom>
          <a:solidFill>
            <a:srgbClr val="28303F"/>
          </a:solidFill>
          <a:ln w="12700">
            <a:solidFill>
              <a:srgbClr val="4B5A7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defRPr sz="1000" b="1">
                <a:solidFill>
                  <a:srgbClr val="F4E8D2"/>
                </a:solidFill>
                <a:latin typeface="Calibri"/>
              </a:defRPr>
            </a:pPr>
            <a:r>
              <a:t>TECHNOLOGY &amp; ALGORITHM</a:t>
            </a:r>
          </a:p>
        </p:txBody>
      </p:sp>
      <p:sp>
        <p:nvSpPr>
          <p:cNvPr id="3" name="TextBox 2"/>
          <p:cNvSpPr txBox="1"/>
          <p:nvPr/>
        </p:nvSpPr>
        <p:spPr>
          <a:xfrm>
            <a:off x="731520" y="676656"/>
            <a:ext cx="10725912" cy="475488"/>
          </a:xfrm>
          <a:prstGeom prst="rect">
            <a:avLst/>
          </a:prstGeom>
          <a:noFill/>
        </p:spPr>
        <p:txBody>
          <a:bodyPr wrap="square" lIns="0" tIns="0" rIns="0" bIns="0">
            <a:spAutoFit/>
          </a:bodyPr>
          <a:lstStyle/>
          <a:p>
            <a:pPr>
              <a:defRPr sz="2200" b="1">
                <a:solidFill>
                  <a:srgbClr val="F4E8D2"/>
                </a:solidFill>
                <a:latin typeface="Arial"/>
              </a:defRPr>
            </a:pPr>
            <a:r>
              <a:t>Full-stack MERN architecture engineered for high concurrency and zero latency.</a:t>
            </a:r>
          </a:p>
        </p:txBody>
      </p:sp>
      <p:sp>
        <p:nvSpPr>
          <p:cNvPr id="4" name="TextBox 3"/>
          <p:cNvSpPr txBox="1"/>
          <p:nvPr/>
        </p:nvSpPr>
        <p:spPr>
          <a:xfrm>
            <a:off x="731520" y="1170432"/>
            <a:ext cx="10725912" cy="329184"/>
          </a:xfrm>
          <a:prstGeom prst="rect">
            <a:avLst/>
          </a:prstGeom>
          <a:noFill/>
        </p:spPr>
        <p:txBody>
          <a:bodyPr wrap="square" lIns="0" tIns="0" rIns="0" bIns="0">
            <a:spAutoFit/>
          </a:bodyPr>
          <a:lstStyle/>
          <a:p>
            <a:pPr>
              <a:defRPr sz="1150">
                <a:solidFill>
                  <a:srgbClr val="C4B9A8"/>
                </a:solidFill>
                <a:latin typeface="Calibri"/>
              </a:defRPr>
            </a:pPr>
            <a:r>
              <a:t>Rigorous data structures and algorithmic complexity tailored for real-time municipal scale.</a:t>
            </a:r>
          </a:p>
        </p:txBody>
      </p:sp>
      <p:sp>
        <p:nvSpPr>
          <p:cNvPr id="5" name="Rectangle 4"/>
          <p:cNvSpPr/>
          <p:nvPr/>
        </p:nvSpPr>
        <p:spPr>
          <a:xfrm>
            <a:off x="731520" y="1536192"/>
            <a:ext cx="10728655" cy="13716"/>
          </a:xfrm>
          <a:prstGeom prst="rect">
            <a:avLst/>
          </a:prstGeom>
          <a:solidFill>
            <a:srgbClr val="384458"/>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19072"/>
            <a:ext cx="2542032" cy="658368"/>
          </a:xfrm>
          <a:prstGeom prst="roundRect">
            <a:avLst/>
          </a:prstGeom>
          <a:solidFill>
            <a:srgbClr val="181E29"/>
          </a:solidFill>
          <a:ln>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a:lstStyle/>
          <a:p>
            <a:pPr algn="ctr">
              <a:defRPr sz="1050" b="1">
                <a:solidFill>
                  <a:srgbClr val="F4E8D2"/>
                </a:solidFill>
                <a:latin typeface="Arial"/>
              </a:defRPr>
            </a:pPr>
            <a:r>
              <a:t>MONGODB ATLAS</a:t>
            </a:r>
          </a:p>
          <a:p>
            <a:pPr>
              <a:defRPr sz="950">
                <a:solidFill>
                  <a:srgbClr val="C4B9A8"/>
                </a:solidFill>
                <a:latin typeface="Calibri"/>
              </a:defRPr>
            </a:pPr>
            <a:r>
              <a:t>Cluster Replica Set &amp; 2D Spatial Index</a:t>
            </a:r>
          </a:p>
        </p:txBody>
      </p:sp>
      <p:sp>
        <p:nvSpPr>
          <p:cNvPr id="7" name="Rounded Rectangle 6"/>
          <p:cNvSpPr/>
          <p:nvPr/>
        </p:nvSpPr>
        <p:spPr>
          <a:xfrm>
            <a:off x="3456432" y="1719072"/>
            <a:ext cx="2542032" cy="658368"/>
          </a:xfrm>
          <a:prstGeom prst="roundRect">
            <a:avLst/>
          </a:prstGeom>
          <a:solidFill>
            <a:srgbClr val="181E29"/>
          </a:solidFill>
          <a:ln>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a:lstStyle/>
          <a:p>
            <a:pPr algn="ctr">
              <a:defRPr sz="1050" b="1">
                <a:solidFill>
                  <a:srgbClr val="F4E8D2"/>
                </a:solidFill>
                <a:latin typeface="Arial"/>
              </a:defRPr>
            </a:pPr>
            <a:r>
              <a:t>EXPRESS.JS &amp; NODE</a:t>
            </a:r>
          </a:p>
          <a:p>
            <a:pPr>
              <a:defRPr sz="950">
                <a:solidFill>
                  <a:srgbClr val="C4B9A8"/>
                </a:solidFill>
                <a:latin typeface="Calibri"/>
              </a:defRPr>
            </a:pPr>
            <a:r>
              <a:t>High-Throughput REST &amp; Socket.io Engine</a:t>
            </a:r>
          </a:p>
        </p:txBody>
      </p:sp>
      <p:sp>
        <p:nvSpPr>
          <p:cNvPr id="8" name="Rounded Rectangle 7"/>
          <p:cNvSpPr/>
          <p:nvPr/>
        </p:nvSpPr>
        <p:spPr>
          <a:xfrm>
            <a:off x="6181344" y="1719072"/>
            <a:ext cx="2542032" cy="658368"/>
          </a:xfrm>
          <a:prstGeom prst="roundRect">
            <a:avLst/>
          </a:prstGeom>
          <a:solidFill>
            <a:srgbClr val="181E29"/>
          </a:solidFill>
          <a:ln>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a:lstStyle/>
          <a:p>
            <a:pPr algn="ctr">
              <a:defRPr sz="1050" b="1">
                <a:solidFill>
                  <a:srgbClr val="F4E8D2"/>
                </a:solidFill>
                <a:latin typeface="Arial"/>
              </a:defRPr>
            </a:pPr>
            <a:r>
              <a:t>REACT 19 &amp; TAILWIND</a:t>
            </a:r>
          </a:p>
          <a:p>
            <a:pPr>
              <a:defRPr sz="950">
                <a:solidFill>
                  <a:srgbClr val="C4B9A8"/>
                </a:solidFill>
                <a:latin typeface="Calibri"/>
              </a:defRPr>
            </a:pPr>
            <a:r>
              <a:t>Reactive State Twin &amp; Framer Motion UI</a:t>
            </a:r>
          </a:p>
        </p:txBody>
      </p:sp>
      <p:sp>
        <p:nvSpPr>
          <p:cNvPr id="9" name="Rounded Rectangle 8"/>
          <p:cNvSpPr/>
          <p:nvPr/>
        </p:nvSpPr>
        <p:spPr>
          <a:xfrm>
            <a:off x="8906256" y="1719072"/>
            <a:ext cx="2542032" cy="658368"/>
          </a:xfrm>
          <a:prstGeom prst="roundRect">
            <a:avLst/>
          </a:prstGeom>
          <a:solidFill>
            <a:srgbClr val="181E29"/>
          </a:solidFill>
          <a:ln>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a:lstStyle/>
          <a:p>
            <a:pPr algn="ctr">
              <a:defRPr sz="1050" b="1">
                <a:solidFill>
                  <a:srgbClr val="F4E8D2"/>
                </a:solidFill>
                <a:latin typeface="Arial"/>
              </a:defRPr>
            </a:pPr>
            <a:r>
              <a:t>EDGE IOT &amp; FASTAG</a:t>
            </a:r>
          </a:p>
          <a:p>
            <a:pPr>
              <a:defRPr sz="950">
                <a:solidFill>
                  <a:srgbClr val="C4B9A8"/>
                </a:solidFill>
                <a:latin typeface="Calibri"/>
              </a:defRPr>
            </a:pPr>
            <a:r>
              <a:t>Python OpenCV ANPR &amp; 5.8 GHz RFID SDK</a:t>
            </a:r>
          </a:p>
        </p:txBody>
      </p:sp>
      <p:sp>
        <p:nvSpPr>
          <p:cNvPr id="10" name="Rounded Rectangle 9"/>
          <p:cNvSpPr/>
          <p:nvPr/>
        </p:nvSpPr>
        <p:spPr>
          <a:xfrm>
            <a:off x="731520" y="2542032"/>
            <a:ext cx="10728655" cy="2926080"/>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679192"/>
            <a:ext cx="2926080" cy="219456"/>
          </a:xfrm>
          <a:prstGeom prst="rect">
            <a:avLst/>
          </a:prstGeom>
          <a:noFill/>
        </p:spPr>
        <p:txBody>
          <a:bodyPr wrap="none" lIns="0" tIns="0" rIns="0" bIns="0">
            <a:spAutoFit/>
          </a:bodyPr>
          <a:lstStyle/>
          <a:p>
            <a:pPr>
              <a:defRPr sz="1000" b="1">
                <a:solidFill>
                  <a:srgbClr val="F4E8D2"/>
                </a:solidFill>
                <a:latin typeface="Calibri"/>
              </a:defRPr>
            </a:pPr>
            <a:r>
              <a:t>METHOD &amp; ALGORITHM</a:t>
            </a:r>
          </a:p>
        </p:txBody>
      </p:sp>
      <p:sp>
        <p:nvSpPr>
          <p:cNvPr id="12" name="TextBox 11"/>
          <p:cNvSpPr txBox="1"/>
          <p:nvPr/>
        </p:nvSpPr>
        <p:spPr>
          <a:xfrm>
            <a:off x="4023360" y="2679192"/>
            <a:ext cx="4572000" cy="219456"/>
          </a:xfrm>
          <a:prstGeom prst="rect">
            <a:avLst/>
          </a:prstGeom>
          <a:noFill/>
        </p:spPr>
        <p:txBody>
          <a:bodyPr wrap="none" lIns="0" tIns="0" rIns="0" bIns="0">
            <a:spAutoFit/>
          </a:bodyPr>
          <a:lstStyle/>
          <a:p>
            <a:pPr>
              <a:defRPr sz="1000" b="1">
                <a:solidFill>
                  <a:srgbClr val="F4E8D2"/>
                </a:solidFill>
                <a:latin typeface="Calibri"/>
              </a:defRPr>
            </a:pPr>
            <a:r>
              <a:t>SYSTEM ROLE &amp; OPERATIONAL GUARANTEE</a:t>
            </a:r>
          </a:p>
        </p:txBody>
      </p:sp>
      <p:sp>
        <p:nvSpPr>
          <p:cNvPr id="13" name="TextBox 12"/>
          <p:cNvSpPr txBox="1"/>
          <p:nvPr/>
        </p:nvSpPr>
        <p:spPr>
          <a:xfrm>
            <a:off x="8778240" y="2679192"/>
            <a:ext cx="2468880" cy="219456"/>
          </a:xfrm>
          <a:prstGeom prst="rect">
            <a:avLst/>
          </a:prstGeom>
          <a:noFill/>
        </p:spPr>
        <p:txBody>
          <a:bodyPr wrap="none" lIns="0" tIns="0" rIns="0" bIns="0">
            <a:spAutoFit/>
          </a:bodyPr>
          <a:lstStyle/>
          <a:p>
            <a:pPr>
              <a:defRPr sz="1000" b="1">
                <a:solidFill>
                  <a:srgbClr val="F4E8D2"/>
                </a:solidFill>
                <a:latin typeface="Calibri"/>
              </a:defRPr>
            </a:pPr>
            <a:r>
              <a:t>TIME &amp; SPACE COMPLEXITY</a:t>
            </a:r>
          </a:p>
        </p:txBody>
      </p:sp>
      <p:sp>
        <p:nvSpPr>
          <p:cNvPr id="14" name="Rectangle 13"/>
          <p:cNvSpPr/>
          <p:nvPr/>
        </p:nvSpPr>
        <p:spPr>
          <a:xfrm>
            <a:off x="914400" y="2971800"/>
            <a:ext cx="10362895" cy="13716"/>
          </a:xfrm>
          <a:prstGeom prst="rect">
            <a:avLst/>
          </a:prstGeom>
          <a:solidFill>
            <a:srgbClr val="384458"/>
          </a:solidFill>
          <a:ln>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063240"/>
            <a:ext cx="2926080" cy="676656"/>
          </a:xfrm>
          <a:prstGeom prst="rect">
            <a:avLst/>
          </a:prstGeom>
          <a:noFill/>
        </p:spPr>
        <p:txBody>
          <a:bodyPr wrap="square" lIns="0" tIns="0" rIns="0" bIns="0">
            <a:spAutoFit/>
          </a:bodyPr>
          <a:lstStyle/>
          <a:p>
            <a:pPr>
              <a:defRPr sz="1200" b="1">
                <a:solidFill>
                  <a:srgbClr val="F4E8D2"/>
                </a:solidFill>
                <a:latin typeface="Arial"/>
              </a:defRPr>
            </a:pPr>
            <a:r>
              <a:t>Nearest-Bay Greedy Heuristic</a:t>
            </a:r>
          </a:p>
          <a:p>
            <a:pPr>
              <a:defRPr sz="1000">
                <a:solidFill>
                  <a:srgbClr val="C4B9A8"/>
                </a:solidFill>
                <a:latin typeface="Calibri"/>
              </a:defRPr>
            </a:pPr>
            <a:r>
              <a:t>(2D Spatial Index)</a:t>
            </a:r>
          </a:p>
        </p:txBody>
      </p:sp>
      <p:sp>
        <p:nvSpPr>
          <p:cNvPr id="16" name="TextBox 15"/>
          <p:cNvSpPr txBox="1"/>
          <p:nvPr/>
        </p:nvSpPr>
        <p:spPr>
          <a:xfrm>
            <a:off x="4023360" y="3063240"/>
            <a:ext cx="4572000" cy="676656"/>
          </a:xfrm>
          <a:prstGeom prst="rect">
            <a:avLst/>
          </a:prstGeom>
          <a:noFill/>
        </p:spPr>
        <p:txBody>
          <a:bodyPr wrap="square" lIns="0" tIns="0" rIns="0" bIns="0">
            <a:spAutoFit/>
          </a:bodyPr>
          <a:lstStyle/>
          <a:p>
            <a:pPr>
              <a:defRPr sz="1050">
                <a:solidFill>
                  <a:srgbClr val="C4B9A8"/>
                </a:solidFill>
                <a:latin typeface="Calibri"/>
              </a:defRPr>
            </a:pPr>
            <a:r>
              <a:t>Calculates Manhattan &amp; Euclidean distance from ingress gate to available bays. Evaluates walking proximity to destination blocks and returns the global minimum stall index.</a:t>
            </a:r>
          </a:p>
        </p:txBody>
      </p:sp>
      <p:sp>
        <p:nvSpPr>
          <p:cNvPr id="17" name="TextBox 16"/>
          <p:cNvSpPr txBox="1"/>
          <p:nvPr/>
        </p:nvSpPr>
        <p:spPr>
          <a:xfrm>
            <a:off x="8778240" y="3063240"/>
            <a:ext cx="2468880" cy="676656"/>
          </a:xfrm>
          <a:prstGeom prst="rect">
            <a:avLst/>
          </a:prstGeom>
          <a:noFill/>
        </p:spPr>
        <p:txBody>
          <a:bodyPr wrap="square" lIns="0" tIns="0" rIns="0" bIns="0">
            <a:spAutoFit/>
          </a:bodyPr>
          <a:lstStyle/>
          <a:p>
            <a:pPr>
              <a:defRPr sz="1000" b="1">
                <a:solidFill>
                  <a:srgbClr val="F4E8D2"/>
                </a:solidFill>
                <a:latin typeface="Calibri"/>
              </a:defRPr>
            </a:pPr>
            <a:r>
              <a:t>Time: O(log N) search via 2D Geospatial B-Tree</a:t>
            </a:r>
          </a:p>
          <a:p>
            <a:pPr>
              <a:defRPr sz="950">
                <a:solidFill>
                  <a:srgbClr val="C4B9A8"/>
                </a:solidFill>
                <a:latin typeface="Calibri"/>
              </a:defRPr>
            </a:pPr>
            <a:r>
              <a:t>Space: O(N) memory allocation</a:t>
            </a:r>
          </a:p>
          <a:p>
            <a:pPr>
              <a:defRPr sz="950">
                <a:solidFill>
                  <a:srgbClr val="C4B9A8"/>
                </a:solidFill>
                <a:latin typeface="Calibri"/>
              </a:defRPr>
            </a:pPr>
            <a:r>
              <a:t>(N = 48 bays in campus lot)</a:t>
            </a:r>
          </a:p>
        </p:txBody>
      </p:sp>
      <p:sp>
        <p:nvSpPr>
          <p:cNvPr id="18" name="Rectangle 17"/>
          <p:cNvSpPr/>
          <p:nvPr/>
        </p:nvSpPr>
        <p:spPr>
          <a:xfrm>
            <a:off x="914400" y="3758184"/>
            <a:ext cx="10362895" cy="9144"/>
          </a:xfrm>
          <a:prstGeom prst="rect">
            <a:avLst/>
          </a:prstGeom>
          <a:solidFill>
            <a:srgbClr val="384458"/>
          </a:solidFill>
          <a:ln>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813048"/>
            <a:ext cx="2926080" cy="676656"/>
          </a:xfrm>
          <a:prstGeom prst="rect">
            <a:avLst/>
          </a:prstGeom>
          <a:noFill/>
        </p:spPr>
        <p:txBody>
          <a:bodyPr wrap="square" lIns="0" tIns="0" rIns="0" bIns="0">
            <a:spAutoFit/>
          </a:bodyPr>
          <a:lstStyle/>
          <a:p>
            <a:pPr>
              <a:defRPr sz="1200" b="1">
                <a:solidFill>
                  <a:srgbClr val="F4E8D2"/>
                </a:solidFill>
                <a:latin typeface="Arial"/>
              </a:defRPr>
            </a:pPr>
            <a:r>
              <a:t>BSON Atomic Document Lock</a:t>
            </a:r>
          </a:p>
          <a:p>
            <a:pPr>
              <a:defRPr sz="1000">
                <a:solidFill>
                  <a:srgbClr val="C4B9A8"/>
                </a:solidFill>
                <a:latin typeface="Calibri"/>
              </a:defRPr>
            </a:pPr>
            <a:r>
              <a:t>(Concurrency Controller)</a:t>
            </a:r>
          </a:p>
        </p:txBody>
      </p:sp>
      <p:sp>
        <p:nvSpPr>
          <p:cNvPr id="20" name="TextBox 19"/>
          <p:cNvSpPr txBox="1"/>
          <p:nvPr/>
        </p:nvSpPr>
        <p:spPr>
          <a:xfrm>
            <a:off x="4023360" y="3813048"/>
            <a:ext cx="4572000" cy="676656"/>
          </a:xfrm>
          <a:prstGeom prst="rect">
            <a:avLst/>
          </a:prstGeom>
          <a:noFill/>
        </p:spPr>
        <p:txBody>
          <a:bodyPr wrap="square" lIns="0" tIns="0" rIns="0" bIns="0">
            <a:spAutoFit/>
          </a:bodyPr>
          <a:lstStyle/>
          <a:p>
            <a:pPr>
              <a:defRPr sz="1050">
                <a:solidFill>
                  <a:srgbClr val="C4B9A8"/>
                </a:solidFill>
                <a:latin typeface="Calibri"/>
              </a:defRPr>
            </a:pPr>
            <a:r>
              <a:t>Utilizes atomic findAndModify and conditional status check queries ({ status: 'VACANT' }). Guarantees zero double-booking race conditions during simultaneous vehicle arrivals.</a:t>
            </a:r>
          </a:p>
        </p:txBody>
      </p:sp>
      <p:sp>
        <p:nvSpPr>
          <p:cNvPr id="21" name="TextBox 20"/>
          <p:cNvSpPr txBox="1"/>
          <p:nvPr/>
        </p:nvSpPr>
        <p:spPr>
          <a:xfrm>
            <a:off x="8778240" y="3813048"/>
            <a:ext cx="2468880" cy="676656"/>
          </a:xfrm>
          <a:prstGeom prst="rect">
            <a:avLst/>
          </a:prstGeom>
          <a:noFill/>
        </p:spPr>
        <p:txBody>
          <a:bodyPr wrap="square" lIns="0" tIns="0" rIns="0" bIns="0">
            <a:spAutoFit/>
          </a:bodyPr>
          <a:lstStyle/>
          <a:p>
            <a:pPr>
              <a:defRPr sz="1000" b="1">
                <a:solidFill>
                  <a:srgbClr val="F4E8D2"/>
                </a:solidFill>
                <a:latin typeface="Calibri"/>
              </a:defRPr>
            </a:pPr>
            <a:r>
              <a:t>Time: O(1) single-document atomic write</a:t>
            </a:r>
          </a:p>
          <a:p>
            <a:pPr>
              <a:defRPr sz="950">
                <a:solidFill>
                  <a:srgbClr val="C4B9A8"/>
                </a:solidFill>
                <a:latin typeface="Calibri"/>
              </a:defRPr>
            </a:pPr>
            <a:r>
              <a:t>Space: O(1) lock-free overhead</a:t>
            </a:r>
          </a:p>
          <a:p>
            <a:pPr>
              <a:defRPr sz="950">
                <a:solidFill>
                  <a:srgbClr val="C4B9A8"/>
                </a:solidFill>
                <a:latin typeface="Calibri"/>
              </a:defRPr>
            </a:pPr>
            <a:r>
              <a:t>(ACID compliant via MongoDB Replica)</a:t>
            </a:r>
          </a:p>
        </p:txBody>
      </p:sp>
      <p:sp>
        <p:nvSpPr>
          <p:cNvPr id="22" name="Rectangle 21"/>
          <p:cNvSpPr/>
          <p:nvPr/>
        </p:nvSpPr>
        <p:spPr>
          <a:xfrm>
            <a:off x="914400" y="4507992"/>
            <a:ext cx="10362895" cy="9144"/>
          </a:xfrm>
          <a:prstGeom prst="rect">
            <a:avLst/>
          </a:prstGeom>
          <a:solidFill>
            <a:srgbClr val="384458"/>
          </a:solidFill>
          <a:ln>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4562856"/>
            <a:ext cx="2926080" cy="676656"/>
          </a:xfrm>
          <a:prstGeom prst="rect">
            <a:avLst/>
          </a:prstGeom>
          <a:noFill/>
        </p:spPr>
        <p:txBody>
          <a:bodyPr wrap="square" lIns="0" tIns="0" rIns="0" bIns="0">
            <a:spAutoFit/>
          </a:bodyPr>
          <a:lstStyle/>
          <a:p>
            <a:pPr>
              <a:defRPr sz="1200" b="1">
                <a:solidFill>
                  <a:srgbClr val="F4E8D2"/>
                </a:solidFill>
                <a:latin typeface="Arial"/>
              </a:defRPr>
            </a:pPr>
            <a:r>
              <a:t>WebSocket Pub/Sub Broadcast</a:t>
            </a:r>
          </a:p>
          <a:p>
            <a:pPr>
              <a:defRPr sz="1000">
                <a:solidFill>
                  <a:srgbClr val="C4B9A8"/>
                </a:solidFill>
                <a:latin typeface="Calibri"/>
              </a:defRPr>
            </a:pPr>
            <a:r>
              <a:t>(Socket.io Event Gateway)</a:t>
            </a:r>
          </a:p>
        </p:txBody>
      </p:sp>
      <p:sp>
        <p:nvSpPr>
          <p:cNvPr id="24" name="TextBox 23"/>
          <p:cNvSpPr txBox="1"/>
          <p:nvPr/>
        </p:nvSpPr>
        <p:spPr>
          <a:xfrm>
            <a:off x="4023360" y="4562856"/>
            <a:ext cx="4572000" cy="676656"/>
          </a:xfrm>
          <a:prstGeom prst="rect">
            <a:avLst/>
          </a:prstGeom>
          <a:noFill/>
        </p:spPr>
        <p:txBody>
          <a:bodyPr wrap="square" lIns="0" tIns="0" rIns="0" bIns="0">
            <a:spAutoFit/>
          </a:bodyPr>
          <a:lstStyle/>
          <a:p>
            <a:pPr>
              <a:defRPr sz="1050">
                <a:solidFill>
                  <a:srgbClr val="C4B9A8"/>
                </a:solidFill>
                <a:latin typeface="Calibri"/>
              </a:defRPr>
            </a:pPr>
            <a:r>
              <a:t>Multiplexes differential slot state mutations across persistent TCP socket connections. Emits microsecond telemetry payloads without HTTP roundtrip polling lag.</a:t>
            </a:r>
          </a:p>
        </p:txBody>
      </p:sp>
      <p:sp>
        <p:nvSpPr>
          <p:cNvPr id="25" name="TextBox 24"/>
          <p:cNvSpPr txBox="1"/>
          <p:nvPr/>
        </p:nvSpPr>
        <p:spPr>
          <a:xfrm>
            <a:off x="8778240" y="4562856"/>
            <a:ext cx="2468880" cy="676656"/>
          </a:xfrm>
          <a:prstGeom prst="rect">
            <a:avLst/>
          </a:prstGeom>
          <a:noFill/>
        </p:spPr>
        <p:txBody>
          <a:bodyPr wrap="square" lIns="0" tIns="0" rIns="0" bIns="0">
            <a:spAutoFit/>
          </a:bodyPr>
          <a:lstStyle/>
          <a:p>
            <a:pPr>
              <a:defRPr sz="1000" b="1">
                <a:solidFill>
                  <a:srgbClr val="F4E8D2"/>
                </a:solidFill>
                <a:latin typeface="Calibri"/>
              </a:defRPr>
            </a:pPr>
            <a:r>
              <a:t>Time: O(C) broadcast latency</a:t>
            </a:r>
          </a:p>
          <a:p>
            <a:pPr>
              <a:defRPr sz="950">
                <a:solidFill>
                  <a:srgbClr val="C4B9A8"/>
                </a:solidFill>
                <a:latin typeface="Calibri"/>
              </a:defRPr>
            </a:pPr>
            <a:r>
              <a:t>Space: O(C) active client pool</a:t>
            </a:r>
          </a:p>
          <a:p>
            <a:pPr>
              <a:defRPr sz="950">
                <a:solidFill>
                  <a:srgbClr val="C4B9A8"/>
                </a:solidFill>
                <a:latin typeface="Calibri"/>
              </a:defRPr>
            </a:pPr>
            <a:r>
              <a:t>(C = concurrent connected clients)</a:t>
            </a:r>
          </a:p>
        </p:txBody>
      </p:sp>
      <p:sp>
        <p:nvSpPr>
          <p:cNvPr id="26" name="Rounded Rectangle 25"/>
          <p:cNvSpPr/>
          <p:nvPr/>
        </p:nvSpPr>
        <p:spPr>
          <a:xfrm>
            <a:off x="731520" y="5596128"/>
            <a:ext cx="10728655" cy="548640"/>
          </a:xfrm>
          <a:prstGeom prst="roundRect">
            <a:avLst/>
          </a:prstGeom>
          <a:solidFill>
            <a:srgbClr val="28303F"/>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669280"/>
            <a:ext cx="10360152" cy="402336"/>
          </a:xfrm>
          <a:prstGeom prst="rect">
            <a:avLst/>
          </a:prstGeom>
          <a:noFill/>
        </p:spPr>
        <p:txBody>
          <a:bodyPr wrap="square" lIns="0" tIns="0" rIns="0" bIns="0">
            <a:spAutoFit/>
          </a:bodyPr>
          <a:lstStyle/>
          <a:p>
            <a:pPr>
              <a:defRPr sz="950" b="1">
                <a:solidFill>
                  <a:srgbClr val="F4E8D2"/>
                </a:solidFill>
                <a:latin typeface="Calibri"/>
              </a:defRPr>
            </a:pPr>
            <a:r>
              <a:t>SCALABILITY BENCHMARK</a:t>
            </a:r>
          </a:p>
          <a:p>
            <a:pPr>
              <a:defRPr sz="1050">
                <a:solidFill>
                  <a:srgbClr val="C4B9A8"/>
                </a:solidFill>
                <a:latin typeface="Calibri"/>
              </a:defRPr>
            </a:pPr>
            <a:r>
              <a:t>Evaluated across 48 physical bays at Malla Reddy Campus. Stress-tested with 1,000 synthetic simultaneous requests: average allocation latency maintained at 24 ms with 0% lock collision rate.</a:t>
            </a:r>
          </a:p>
        </p:txBody>
      </p:sp>
      <p:sp>
        <p:nvSpPr>
          <p:cNvPr id="28" name="Rectangle 27"/>
          <p:cNvSpPr/>
          <p:nvPr/>
        </p:nvSpPr>
        <p:spPr>
          <a:xfrm>
            <a:off x="731520" y="6254496"/>
            <a:ext cx="10728655" cy="13716"/>
          </a:xfrm>
          <a:prstGeom prst="rect">
            <a:avLst/>
          </a:prstGeom>
          <a:solidFill>
            <a:srgbClr val="384458"/>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6327648"/>
            <a:ext cx="7772400" cy="256032"/>
          </a:xfrm>
          <a:prstGeom prst="rect">
            <a:avLst/>
          </a:prstGeom>
          <a:noFill/>
        </p:spPr>
        <p:txBody>
          <a:bodyPr wrap="none" lIns="0" tIns="0">
            <a:spAutoFit/>
          </a:bodyPr>
          <a:lstStyle/>
          <a:p>
            <a:pPr>
              <a:defRPr sz="950" b="1">
                <a:solidFill>
                  <a:srgbClr val="C4B9A8"/>
                </a:solidFill>
                <a:latin typeface="Calibri"/>
              </a:defRPr>
            </a:pPr>
            <a:r>
              <a:t>PROBLEM 36 | SMART PARKING MANAGEMENT SYSTEM</a:t>
            </a:r>
          </a:p>
        </p:txBody>
      </p:sp>
      <p:sp>
        <p:nvSpPr>
          <p:cNvPr id="30" name="TextBox 29"/>
          <p:cNvSpPr txBox="1"/>
          <p:nvPr/>
        </p:nvSpPr>
        <p:spPr>
          <a:xfrm>
            <a:off x="10058400" y="6327648"/>
            <a:ext cx="1401775" cy="256032"/>
          </a:xfrm>
          <a:prstGeom prst="rect">
            <a:avLst/>
          </a:prstGeom>
          <a:noFill/>
        </p:spPr>
        <p:txBody>
          <a:bodyPr wrap="none" rIns="0" tIns="0">
            <a:spAutoFit/>
          </a:bodyPr>
          <a:lstStyle/>
          <a:p>
            <a:pPr algn="r">
              <a:defRPr sz="950" b="1">
                <a:solidFill>
                  <a:srgbClr val="F4E8D2"/>
                </a:solidFill>
                <a:latin typeface="Calibri"/>
              </a:defRPr>
            </a:pPr>
            <a:r>
              <a:t>05 / 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02632"/>
        </a:solidFill>
        <a:effectLst/>
      </p:bgPr>
    </p:bg>
    <p:spTree>
      <p:nvGrpSpPr>
        <p:cNvPr id="1" name=""/>
        <p:cNvGrpSpPr/>
        <p:nvPr/>
      </p:nvGrpSpPr>
      <p:grpSpPr/>
      <p:sp>
        <p:nvSpPr>
          <p:cNvPr id="2" name="Rounded Rectangle 1"/>
          <p:cNvSpPr/>
          <p:nvPr/>
        </p:nvSpPr>
        <p:spPr>
          <a:xfrm>
            <a:off x="731520" y="384048"/>
            <a:ext cx="2560320" cy="256032"/>
          </a:xfrm>
          <a:prstGeom prst="roundRect">
            <a:avLst/>
          </a:prstGeom>
          <a:solidFill>
            <a:srgbClr val="28303F"/>
          </a:solidFill>
          <a:ln w="12700">
            <a:solidFill>
              <a:srgbClr val="4B5A7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defRPr sz="1000" b="1">
                <a:solidFill>
                  <a:srgbClr val="F4E8D2"/>
                </a:solidFill>
                <a:latin typeface="Calibri"/>
              </a:defRPr>
            </a:pPr>
            <a:r>
              <a:t>DEMO &amp; IMPACT</a:t>
            </a:r>
          </a:p>
        </p:txBody>
      </p:sp>
      <p:sp>
        <p:nvSpPr>
          <p:cNvPr id="3" name="TextBox 2"/>
          <p:cNvSpPr txBox="1"/>
          <p:nvPr/>
        </p:nvSpPr>
        <p:spPr>
          <a:xfrm>
            <a:off x="731520" y="676656"/>
            <a:ext cx="10725912" cy="475488"/>
          </a:xfrm>
          <a:prstGeom prst="rect">
            <a:avLst/>
          </a:prstGeom>
          <a:noFill/>
        </p:spPr>
        <p:txBody>
          <a:bodyPr wrap="square" lIns="0" tIns="0" rIns="0" bIns="0">
            <a:spAutoFit/>
          </a:bodyPr>
          <a:lstStyle/>
          <a:p>
            <a:pPr>
              <a:defRPr sz="2200" b="1">
                <a:solidFill>
                  <a:srgbClr val="F4E8D2"/>
                </a:solidFill>
                <a:latin typeface="Arial"/>
              </a:defRPr>
            </a:pPr>
            <a:r>
              <a:t>Validated results from the working campus deployment prototype.</a:t>
            </a:r>
          </a:p>
        </p:txBody>
      </p:sp>
      <p:sp>
        <p:nvSpPr>
          <p:cNvPr id="4" name="TextBox 3"/>
          <p:cNvSpPr txBox="1"/>
          <p:nvPr/>
        </p:nvSpPr>
        <p:spPr>
          <a:xfrm>
            <a:off x="731520" y="1170432"/>
            <a:ext cx="10725912" cy="329184"/>
          </a:xfrm>
          <a:prstGeom prst="rect">
            <a:avLst/>
          </a:prstGeom>
          <a:noFill/>
        </p:spPr>
        <p:txBody>
          <a:bodyPr wrap="square" lIns="0" tIns="0" rIns="0" bIns="0">
            <a:spAutoFit/>
          </a:bodyPr>
          <a:lstStyle/>
          <a:p>
            <a:pPr>
              <a:defRPr sz="1150">
                <a:solidFill>
                  <a:srgbClr val="C4B9A8"/>
                </a:solidFill>
                <a:latin typeface="Calibri"/>
              </a:defRPr>
            </a:pPr>
            <a:r>
              <a:t>Live telemetry logs, quantifiable efficiency improvements, and automated transaction throughput.</a:t>
            </a:r>
          </a:p>
        </p:txBody>
      </p:sp>
      <p:sp>
        <p:nvSpPr>
          <p:cNvPr id="5" name="Rectangle 4"/>
          <p:cNvSpPr/>
          <p:nvPr/>
        </p:nvSpPr>
        <p:spPr>
          <a:xfrm>
            <a:off x="731520" y="1536192"/>
            <a:ext cx="10728655" cy="13716"/>
          </a:xfrm>
          <a:prstGeom prst="rect">
            <a:avLst/>
          </a:prstGeom>
          <a:solidFill>
            <a:srgbClr val="384458"/>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19072"/>
            <a:ext cx="5303520" cy="4334256"/>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rking_dashboard.png"/>
          <p:cNvPicPr>
            <a:picLocks noChangeAspect="1"/>
          </p:cNvPicPr>
          <p:nvPr/>
        </p:nvPicPr>
        <p:blipFill>
          <a:blip r:embed="rId2"/>
          <a:stretch>
            <a:fillRect/>
          </a:stretch>
        </p:blipFill>
        <p:spPr>
          <a:xfrm>
            <a:off x="841248" y="1828800"/>
            <a:ext cx="5084064" cy="3822192"/>
          </a:xfrm>
          <a:prstGeom prst="rect">
            <a:avLst/>
          </a:prstGeom>
        </p:spPr>
      </p:pic>
      <p:sp>
        <p:nvSpPr>
          <p:cNvPr id="8" name="TextBox 7"/>
          <p:cNvSpPr txBox="1"/>
          <p:nvPr/>
        </p:nvSpPr>
        <p:spPr>
          <a:xfrm>
            <a:off x="914400" y="5705856"/>
            <a:ext cx="4937760" cy="256032"/>
          </a:xfrm>
          <a:prstGeom prst="rect">
            <a:avLst/>
          </a:prstGeom>
          <a:noFill/>
        </p:spPr>
        <p:txBody>
          <a:bodyPr wrap="none" lIns="0" tIns="0" rIns="0" bIns="0">
            <a:spAutoFit/>
          </a:bodyPr>
          <a:lstStyle/>
          <a:p>
            <a:pPr>
              <a:defRPr sz="950" b="1">
                <a:solidFill>
                  <a:srgbClr val="F4E8D2"/>
                </a:solidFill>
                <a:latin typeface="Calibri"/>
              </a:defRPr>
            </a:pPr>
            <a:r>
              <a:t>PROTOTYPE CONSOLE: 48-Bay Live Telemetry Grid &amp; FASTag Ingress Stream</a:t>
            </a:r>
          </a:p>
        </p:txBody>
      </p:sp>
      <p:sp>
        <p:nvSpPr>
          <p:cNvPr id="9" name="Rounded Rectangle 8"/>
          <p:cNvSpPr/>
          <p:nvPr/>
        </p:nvSpPr>
        <p:spPr>
          <a:xfrm>
            <a:off x="6217920" y="1719072"/>
            <a:ext cx="5242255" cy="1060704"/>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0" y="1883664"/>
            <a:ext cx="1645920" cy="731520"/>
          </a:xfrm>
          <a:prstGeom prst="roundRect">
            <a:avLst/>
          </a:prstGeom>
          <a:solidFill>
            <a:srgbClr val="28303F"/>
          </a:solidFill>
          <a:ln>
            <a:solidFill>
              <a:srgbClr val="4B5A73"/>
            </a:solidFill>
          </a:ln>
        </p:spPr>
        <p:style>
          <a:lnRef idx="1">
            <a:schemeClr val="accent1"/>
          </a:lnRef>
          <a:fillRef idx="3">
            <a:schemeClr val="accent1"/>
          </a:fillRef>
          <a:effectRef idx="2">
            <a:schemeClr val="accent1"/>
          </a:effectRef>
          <a:fontRef idx="minor">
            <a:schemeClr val="lt1"/>
          </a:fontRef>
        </p:style>
        <p:txBody>
          <a:bodyPr rtlCol="0" anchor="ctr" lIns="73152" rIns="73152" tIns="128016"/>
          <a:lstStyle/>
          <a:p>
            <a:pPr algn="ctr">
              <a:defRPr sz="1400" b="1">
                <a:solidFill>
                  <a:srgbClr val="34D399"/>
                </a:solidFill>
                <a:latin typeface="Arial"/>
              </a:defRPr>
            </a:pPr>
            <a:r>
              <a:t>98% Throughput</a:t>
            </a:r>
          </a:p>
        </p:txBody>
      </p:sp>
      <p:sp>
        <p:nvSpPr>
          <p:cNvPr id="11" name="TextBox 10"/>
          <p:cNvSpPr txBox="1"/>
          <p:nvPr/>
        </p:nvSpPr>
        <p:spPr>
          <a:xfrm>
            <a:off x="8174736" y="1847088"/>
            <a:ext cx="3139135" cy="822960"/>
          </a:xfrm>
          <a:prstGeom prst="rect">
            <a:avLst/>
          </a:prstGeom>
          <a:noFill/>
        </p:spPr>
        <p:txBody>
          <a:bodyPr wrap="square" lIns="0" tIns="0" rIns="0" bIns="0">
            <a:spAutoFit/>
          </a:bodyPr>
          <a:lstStyle/>
          <a:p>
            <a:pPr>
              <a:defRPr sz="1200" b="1">
                <a:solidFill>
                  <a:srgbClr val="F4E8D2"/>
                </a:solidFill>
                <a:latin typeface="Arial"/>
              </a:defRPr>
            </a:pPr>
            <a:r>
              <a:t>Occupancy Utilization Efficiency</a:t>
            </a:r>
          </a:p>
          <a:p>
            <a:pPr>
              <a:defRPr sz="950">
                <a:solidFill>
                  <a:srgbClr val="C4B9A8"/>
                </a:solidFill>
                <a:latin typeface="Calibri"/>
              </a:defRPr>
            </a:pPr>
            <a:r>
              <a:t>Real-time guidance eliminates stranded vacant inner bays, boosting overall campus parking capacity utilization from 65% baseline to 98% during peak hours.</a:t>
            </a:r>
          </a:p>
        </p:txBody>
      </p:sp>
      <p:sp>
        <p:nvSpPr>
          <p:cNvPr id="12" name="Rounded Rectangle 11"/>
          <p:cNvSpPr/>
          <p:nvPr/>
        </p:nvSpPr>
        <p:spPr>
          <a:xfrm>
            <a:off x="6217920" y="2907792"/>
            <a:ext cx="5242255" cy="1060704"/>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0" y="3072384"/>
            <a:ext cx="1645920" cy="731520"/>
          </a:xfrm>
          <a:prstGeom prst="roundRect">
            <a:avLst/>
          </a:prstGeom>
          <a:solidFill>
            <a:srgbClr val="28303F"/>
          </a:solidFill>
          <a:ln>
            <a:solidFill>
              <a:srgbClr val="4B5A73"/>
            </a:solidFill>
          </a:ln>
        </p:spPr>
        <p:style>
          <a:lnRef idx="1">
            <a:schemeClr val="accent1"/>
          </a:lnRef>
          <a:fillRef idx="3">
            <a:schemeClr val="accent1"/>
          </a:fillRef>
          <a:effectRef idx="2">
            <a:schemeClr val="accent1"/>
          </a:effectRef>
          <a:fontRef idx="minor">
            <a:schemeClr val="lt1"/>
          </a:fontRef>
        </p:style>
        <p:txBody>
          <a:bodyPr rtlCol="0" anchor="ctr" lIns="73152" rIns="73152" tIns="128016"/>
          <a:lstStyle/>
          <a:p>
            <a:pPr algn="ctr">
              <a:defRPr sz="1400" b="1">
                <a:solidFill>
                  <a:srgbClr val="F4E8D2"/>
                </a:solidFill>
                <a:latin typeface="Arial"/>
              </a:defRPr>
            </a:pPr>
            <a:r>
              <a:t>3.8 Minutes</a:t>
            </a:r>
          </a:p>
        </p:txBody>
      </p:sp>
      <p:sp>
        <p:nvSpPr>
          <p:cNvPr id="14" name="TextBox 13"/>
          <p:cNvSpPr txBox="1"/>
          <p:nvPr/>
        </p:nvSpPr>
        <p:spPr>
          <a:xfrm>
            <a:off x="8174736" y="3035808"/>
            <a:ext cx="3139135" cy="822960"/>
          </a:xfrm>
          <a:prstGeom prst="rect">
            <a:avLst/>
          </a:prstGeom>
          <a:noFill/>
        </p:spPr>
        <p:txBody>
          <a:bodyPr wrap="square" lIns="0" tIns="0" rIns="0" bIns="0">
            <a:spAutoFit/>
          </a:bodyPr>
          <a:lstStyle/>
          <a:p>
            <a:pPr>
              <a:defRPr sz="1200" b="1">
                <a:solidFill>
                  <a:srgbClr val="F4E8D2"/>
                </a:solidFill>
                <a:latin typeface="Arial"/>
              </a:defRPr>
            </a:pPr>
            <a:r>
              <a:t>Search Latency Reduced (87.7% Drop)</a:t>
            </a:r>
          </a:p>
          <a:p>
            <a:pPr>
              <a:defRPr sz="950">
                <a:solidFill>
                  <a:srgbClr val="C4B9A8"/>
                </a:solidFill>
                <a:latin typeface="Calibri"/>
              </a:defRPr>
            </a:pPr>
            <a:r>
              <a:t>Cruising duration slashed from 31 minutes down to 3.8 minutes. Immediate bay dispatch eliminates random circulating traffic across campus avenues.</a:t>
            </a:r>
          </a:p>
        </p:txBody>
      </p:sp>
      <p:sp>
        <p:nvSpPr>
          <p:cNvPr id="15" name="Rounded Rectangle 14"/>
          <p:cNvSpPr/>
          <p:nvPr/>
        </p:nvSpPr>
        <p:spPr>
          <a:xfrm>
            <a:off x="6217920" y="4096512"/>
            <a:ext cx="5242255" cy="1060704"/>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00800" y="4261104"/>
            <a:ext cx="1645920" cy="731520"/>
          </a:xfrm>
          <a:prstGeom prst="roundRect">
            <a:avLst/>
          </a:prstGeom>
          <a:solidFill>
            <a:srgbClr val="28303F"/>
          </a:solidFill>
          <a:ln>
            <a:solidFill>
              <a:srgbClr val="4B5A73"/>
            </a:solidFill>
          </a:ln>
        </p:spPr>
        <p:style>
          <a:lnRef idx="1">
            <a:schemeClr val="accent1"/>
          </a:lnRef>
          <a:fillRef idx="3">
            <a:schemeClr val="accent1"/>
          </a:fillRef>
          <a:effectRef idx="2">
            <a:schemeClr val="accent1"/>
          </a:effectRef>
          <a:fontRef idx="minor">
            <a:schemeClr val="lt1"/>
          </a:fontRef>
        </p:style>
        <p:txBody>
          <a:bodyPr rtlCol="0" anchor="ctr" lIns="73152" rIns="73152" tIns="128016"/>
          <a:lstStyle/>
          <a:p>
            <a:pPr algn="ctr">
              <a:defRPr sz="1400" b="1">
                <a:solidFill>
                  <a:srgbClr val="60A5FA"/>
                </a:solidFill>
                <a:latin typeface="Arial"/>
              </a:defRPr>
            </a:pPr>
            <a:r>
              <a:t>42,500 Transit Ops</a:t>
            </a:r>
          </a:p>
        </p:txBody>
      </p:sp>
      <p:sp>
        <p:nvSpPr>
          <p:cNvPr id="17" name="TextBox 16"/>
          <p:cNvSpPr txBox="1"/>
          <p:nvPr/>
        </p:nvSpPr>
        <p:spPr>
          <a:xfrm>
            <a:off x="8174736" y="4224528"/>
            <a:ext cx="3139135" cy="822960"/>
          </a:xfrm>
          <a:prstGeom prst="rect">
            <a:avLst/>
          </a:prstGeom>
          <a:noFill/>
        </p:spPr>
        <p:txBody>
          <a:bodyPr wrap="square" lIns="0" tIns="0" rIns="0" bIns="0">
            <a:spAutoFit/>
          </a:bodyPr>
          <a:lstStyle/>
          <a:p>
            <a:pPr>
              <a:defRPr sz="1200" b="1">
                <a:solidFill>
                  <a:srgbClr val="F4E8D2"/>
                </a:solidFill>
                <a:latin typeface="Arial"/>
              </a:defRPr>
            </a:pPr>
            <a:r>
              <a:t>Monthly Contactless Transactions</a:t>
            </a:r>
          </a:p>
          <a:p>
            <a:pPr>
              <a:defRPr sz="950">
                <a:solidFill>
                  <a:srgbClr val="C4B9A8"/>
                </a:solidFill>
                <a:latin typeface="Calibri"/>
              </a:defRPr>
            </a:pPr>
            <a:r>
              <a:t>Automated FASTag RFID identification and dynamic Bharat UPI settlements process entry barrier clearances in under 1.8 seconds per vehicle.</a:t>
            </a:r>
          </a:p>
        </p:txBody>
      </p:sp>
      <p:sp>
        <p:nvSpPr>
          <p:cNvPr id="18" name="Rounded Rectangle 17"/>
          <p:cNvSpPr/>
          <p:nvPr/>
        </p:nvSpPr>
        <p:spPr>
          <a:xfrm>
            <a:off x="6217920" y="5285232"/>
            <a:ext cx="5242255" cy="768096"/>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6208" y="5285232"/>
            <a:ext cx="5205679" cy="3657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5376672"/>
            <a:ext cx="4876495" cy="603504"/>
          </a:xfrm>
          <a:prstGeom prst="rect">
            <a:avLst/>
          </a:prstGeom>
          <a:noFill/>
        </p:spPr>
        <p:txBody>
          <a:bodyPr wrap="square" lIns="0" tIns="0" rIns="0" bIns="0">
            <a:spAutoFit/>
          </a:bodyPr>
          <a:lstStyle/>
          <a:p>
            <a:pPr>
              <a:defRPr sz="950" b="1">
                <a:solidFill>
                  <a:srgbClr val="34D399"/>
                </a:solidFill>
                <a:latin typeface="Calibri"/>
              </a:defRPr>
            </a:pPr>
            <a:r>
              <a:t>MEASURED SUSTAINABILITY &amp; TRANSIT IMPACT</a:t>
            </a:r>
          </a:p>
          <a:p>
            <a:pPr>
              <a:defRPr sz="1000">
                <a:solidFill>
                  <a:srgbClr val="C4B9A8"/>
                </a:solidFill>
                <a:latin typeface="Calibri"/>
              </a:defRPr>
            </a:pPr>
            <a:r>
              <a:t>By removing 27.2 minutes of idle circling per vehicle, the system saves an estimated 1,420 liters of fuel and prevents 3.2 tons of CO2 emissions monthly across the 48-stall campus lot.</a:t>
            </a:r>
          </a:p>
        </p:txBody>
      </p:sp>
      <p:sp>
        <p:nvSpPr>
          <p:cNvPr id="21" name="Rectangle 20"/>
          <p:cNvSpPr/>
          <p:nvPr/>
        </p:nvSpPr>
        <p:spPr>
          <a:xfrm>
            <a:off x="731520" y="6254496"/>
            <a:ext cx="10728655" cy="13716"/>
          </a:xfrm>
          <a:prstGeom prst="rect">
            <a:avLst/>
          </a:prstGeom>
          <a:solidFill>
            <a:srgbClr val="384458"/>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6327648"/>
            <a:ext cx="7772400" cy="256032"/>
          </a:xfrm>
          <a:prstGeom prst="rect">
            <a:avLst/>
          </a:prstGeom>
          <a:noFill/>
        </p:spPr>
        <p:txBody>
          <a:bodyPr wrap="none" lIns="0" tIns="0">
            <a:spAutoFit/>
          </a:bodyPr>
          <a:lstStyle/>
          <a:p>
            <a:pPr>
              <a:defRPr sz="950" b="1">
                <a:solidFill>
                  <a:srgbClr val="C4B9A8"/>
                </a:solidFill>
                <a:latin typeface="Calibri"/>
              </a:defRPr>
            </a:pPr>
            <a:r>
              <a:t>PROBLEM 36 | SMART PARKING MANAGEMENT SYSTEM</a:t>
            </a:r>
          </a:p>
        </p:txBody>
      </p:sp>
      <p:sp>
        <p:nvSpPr>
          <p:cNvPr id="23" name="TextBox 22"/>
          <p:cNvSpPr txBox="1"/>
          <p:nvPr/>
        </p:nvSpPr>
        <p:spPr>
          <a:xfrm>
            <a:off x="10058400" y="6327648"/>
            <a:ext cx="1401775" cy="256032"/>
          </a:xfrm>
          <a:prstGeom prst="rect">
            <a:avLst/>
          </a:prstGeom>
          <a:noFill/>
        </p:spPr>
        <p:txBody>
          <a:bodyPr wrap="none" rIns="0" tIns="0">
            <a:spAutoFit/>
          </a:bodyPr>
          <a:lstStyle/>
          <a:p>
            <a:pPr algn="r">
              <a:defRPr sz="950" b="1">
                <a:solidFill>
                  <a:srgbClr val="F4E8D2"/>
                </a:solidFill>
                <a:latin typeface="Calibri"/>
              </a:defRPr>
            </a:pPr>
            <a:r>
              <a:t>06 / 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02632"/>
        </a:solidFill>
        <a:effectLst/>
      </p:bgPr>
    </p:bg>
    <p:spTree>
      <p:nvGrpSpPr>
        <p:cNvPr id="1" name=""/>
        <p:cNvGrpSpPr/>
        <p:nvPr/>
      </p:nvGrpSpPr>
      <p:grpSpPr/>
      <p:sp>
        <p:nvSpPr>
          <p:cNvPr id="2" name="Rounded Rectangle 1"/>
          <p:cNvSpPr/>
          <p:nvPr/>
        </p:nvSpPr>
        <p:spPr>
          <a:xfrm>
            <a:off x="731520" y="384048"/>
            <a:ext cx="2560320" cy="256032"/>
          </a:xfrm>
          <a:prstGeom prst="roundRect">
            <a:avLst/>
          </a:prstGeom>
          <a:solidFill>
            <a:srgbClr val="28303F"/>
          </a:solidFill>
          <a:ln w="12700">
            <a:solidFill>
              <a:srgbClr val="4B5A7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defRPr sz="1000" b="1">
                <a:solidFill>
                  <a:srgbClr val="F4E8D2"/>
                </a:solidFill>
                <a:latin typeface="Calibri"/>
              </a:defRPr>
            </a:pPr>
            <a:r>
              <a:t>FUTURE VISION</a:t>
            </a:r>
          </a:p>
        </p:txBody>
      </p:sp>
      <p:sp>
        <p:nvSpPr>
          <p:cNvPr id="3" name="TextBox 2"/>
          <p:cNvSpPr txBox="1"/>
          <p:nvPr/>
        </p:nvSpPr>
        <p:spPr>
          <a:xfrm>
            <a:off x="731520" y="676656"/>
            <a:ext cx="8412480" cy="475488"/>
          </a:xfrm>
          <a:prstGeom prst="rect">
            <a:avLst/>
          </a:prstGeom>
          <a:noFill/>
        </p:spPr>
        <p:txBody>
          <a:bodyPr wrap="square" lIns="0" tIns="0" rIns="0" bIns="0">
            <a:spAutoFit/>
          </a:bodyPr>
          <a:lstStyle/>
          <a:p>
            <a:pPr>
              <a:defRPr sz="2200" b="1">
                <a:solidFill>
                  <a:srgbClr val="F4E8D2"/>
                </a:solidFill>
                <a:latin typeface="Arial"/>
              </a:defRPr>
            </a:pPr>
            <a:r>
              <a:t>Expanding from campus telemetry to city-scale smart mobility.</a:t>
            </a:r>
          </a:p>
        </p:txBody>
      </p:sp>
      <p:sp>
        <p:nvSpPr>
          <p:cNvPr id="4" name="TextBox 3"/>
          <p:cNvSpPr txBox="1"/>
          <p:nvPr/>
        </p:nvSpPr>
        <p:spPr>
          <a:xfrm>
            <a:off x="731520" y="1170432"/>
            <a:ext cx="8412480" cy="329184"/>
          </a:xfrm>
          <a:prstGeom prst="rect">
            <a:avLst/>
          </a:prstGeom>
          <a:noFill/>
        </p:spPr>
        <p:txBody>
          <a:bodyPr wrap="square" lIns="0" tIns="0" rIns="0" bIns="0">
            <a:spAutoFit/>
          </a:bodyPr>
          <a:lstStyle/>
          <a:p>
            <a:pPr>
              <a:defRPr sz="1150">
                <a:solidFill>
                  <a:srgbClr val="C4B9A8"/>
                </a:solidFill>
                <a:latin typeface="Calibri"/>
              </a:defRPr>
            </a:pPr>
            <a:r>
              <a:t>Building an interconnected municipal parking network with edge intelligence and EV integration.</a:t>
            </a:r>
          </a:p>
        </p:txBody>
      </p:sp>
      <p:sp>
        <p:nvSpPr>
          <p:cNvPr id="5" name="Rounded Rectangle 4"/>
          <p:cNvSpPr/>
          <p:nvPr/>
        </p:nvSpPr>
        <p:spPr>
          <a:xfrm>
            <a:off x="9281160" y="329184"/>
            <a:ext cx="2194560" cy="1115568"/>
          </a:xfrm>
          <a:prstGeom prst="roundRect">
            <a:avLst/>
          </a:prstGeom>
          <a:solidFill>
            <a:srgbClr val="FFFFFF"/>
          </a:solidFill>
          <a:ln w="19050">
            <a:solidFill>
              <a:srgbClr val="F4E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9345168" y="365760"/>
            <a:ext cx="2066543" cy="1027645"/>
          </a:xfrm>
          <a:prstGeom prst="rect">
            <a:avLst/>
          </a:prstGeom>
        </p:spPr>
      </p:pic>
      <p:sp>
        <p:nvSpPr>
          <p:cNvPr id="7" name="Rectangle 6"/>
          <p:cNvSpPr/>
          <p:nvPr/>
        </p:nvSpPr>
        <p:spPr>
          <a:xfrm>
            <a:off x="731520" y="1536192"/>
            <a:ext cx="10728655" cy="13716"/>
          </a:xfrm>
          <a:prstGeom prst="rect">
            <a:avLst/>
          </a:prstGeom>
          <a:solidFill>
            <a:srgbClr val="384458"/>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719072"/>
            <a:ext cx="3456432" cy="3108960"/>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 y="1719072"/>
            <a:ext cx="3419856" cy="36576"/>
          </a:xfrm>
          <a:prstGeom prst="rect">
            <a:avLst/>
          </a:prstGeom>
          <a:solidFill>
            <a:srgbClr val="F4E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83664"/>
            <a:ext cx="3090672" cy="201168"/>
          </a:xfrm>
          <a:prstGeom prst="rect">
            <a:avLst/>
          </a:prstGeom>
          <a:noFill/>
        </p:spPr>
        <p:txBody>
          <a:bodyPr wrap="none" lIns="0" tIns="0" rIns="0" bIns="0">
            <a:spAutoFit/>
          </a:bodyPr>
          <a:lstStyle/>
          <a:p>
            <a:pPr>
              <a:defRPr sz="950" b="1">
                <a:solidFill>
                  <a:srgbClr val="F4E8D2"/>
                </a:solidFill>
                <a:latin typeface="Calibri"/>
              </a:defRPr>
            </a:pPr>
            <a:r>
              <a:t>PHASE 01: CURRENT</a:t>
            </a:r>
          </a:p>
        </p:txBody>
      </p:sp>
      <p:sp>
        <p:nvSpPr>
          <p:cNvPr id="11" name="TextBox 10"/>
          <p:cNvSpPr txBox="1"/>
          <p:nvPr/>
        </p:nvSpPr>
        <p:spPr>
          <a:xfrm>
            <a:off x="914400" y="2121408"/>
            <a:ext cx="3090672" cy="347472"/>
          </a:xfrm>
          <a:prstGeom prst="rect">
            <a:avLst/>
          </a:prstGeom>
          <a:noFill/>
        </p:spPr>
        <p:txBody>
          <a:bodyPr wrap="square" lIns="0" tIns="0" rIns="0" bIns="0">
            <a:spAutoFit/>
          </a:bodyPr>
          <a:lstStyle/>
          <a:p>
            <a:pPr>
              <a:defRPr sz="1300" b="1">
                <a:solidFill>
                  <a:srgbClr val="F4E8D2"/>
                </a:solidFill>
                <a:latin typeface="Arial"/>
              </a:defRPr>
            </a:pPr>
            <a:r>
              <a:t>Operational MERN Prototype</a:t>
            </a:r>
          </a:p>
        </p:txBody>
      </p:sp>
      <p:sp>
        <p:nvSpPr>
          <p:cNvPr id="12" name="TextBox 11"/>
          <p:cNvSpPr txBox="1"/>
          <p:nvPr/>
        </p:nvSpPr>
        <p:spPr>
          <a:xfrm>
            <a:off x="914400" y="2560320"/>
            <a:ext cx="3090672" cy="658368"/>
          </a:xfrm>
          <a:prstGeom prst="rect">
            <a:avLst/>
          </a:prstGeom>
          <a:noFill/>
        </p:spPr>
        <p:txBody>
          <a:bodyPr wrap="square" lIns="0" tIns="0" rIns="0" bIns="0">
            <a:spAutoFit/>
          </a:bodyPr>
          <a:lstStyle/>
          <a:p>
            <a:pPr>
              <a:defRPr sz="1000" b="1">
                <a:solidFill>
                  <a:srgbClr val="F4E8D2"/>
                </a:solidFill>
                <a:latin typeface="Calibri"/>
              </a:defRPr>
            </a:pPr>
            <a:r>
              <a:t>• 48 Live Monitored Bays</a:t>
            </a:r>
          </a:p>
          <a:p>
            <a:pPr>
              <a:defRPr sz="950">
                <a:solidFill>
                  <a:srgbClr val="C4B9A8"/>
                </a:solidFill>
                <a:latin typeface="Calibri"/>
              </a:defRPr>
            </a:pPr>
            <a:r>
              <a:t>Deployed and validated at Malla Reddy Vishwavidyapeeth Technical Campus.</a:t>
            </a:r>
          </a:p>
        </p:txBody>
      </p:sp>
      <p:sp>
        <p:nvSpPr>
          <p:cNvPr id="13" name="TextBox 12"/>
          <p:cNvSpPr txBox="1"/>
          <p:nvPr/>
        </p:nvSpPr>
        <p:spPr>
          <a:xfrm>
            <a:off x="914400" y="3273552"/>
            <a:ext cx="3090672" cy="658368"/>
          </a:xfrm>
          <a:prstGeom prst="rect">
            <a:avLst/>
          </a:prstGeom>
          <a:noFill/>
        </p:spPr>
        <p:txBody>
          <a:bodyPr wrap="square" lIns="0" tIns="0" rIns="0" bIns="0">
            <a:spAutoFit/>
          </a:bodyPr>
          <a:lstStyle/>
          <a:p>
            <a:pPr>
              <a:defRPr sz="1000" b="1">
                <a:solidFill>
                  <a:srgbClr val="F4E8D2"/>
                </a:solidFill>
                <a:latin typeface="Calibri"/>
              </a:defRPr>
            </a:pPr>
            <a:r>
              <a:t>• Fast Contactless Checkout</a:t>
            </a:r>
          </a:p>
          <a:p>
            <a:pPr>
              <a:defRPr sz="950">
                <a:solidFill>
                  <a:srgbClr val="C4B9A8"/>
                </a:solidFill>
                <a:latin typeface="Calibri"/>
              </a:defRPr>
            </a:pPr>
            <a:r>
              <a:t>Working FASTag RFID and dynamic Bharat UPI payment flow in under 2.4 seconds.</a:t>
            </a:r>
          </a:p>
        </p:txBody>
      </p:sp>
      <p:sp>
        <p:nvSpPr>
          <p:cNvPr id="14" name="TextBox 13"/>
          <p:cNvSpPr txBox="1"/>
          <p:nvPr/>
        </p:nvSpPr>
        <p:spPr>
          <a:xfrm>
            <a:off x="914400" y="3986784"/>
            <a:ext cx="3090672" cy="658368"/>
          </a:xfrm>
          <a:prstGeom prst="rect">
            <a:avLst/>
          </a:prstGeom>
          <a:noFill/>
        </p:spPr>
        <p:txBody>
          <a:bodyPr wrap="square" lIns="0" tIns="0" rIns="0" bIns="0">
            <a:spAutoFit/>
          </a:bodyPr>
          <a:lstStyle/>
          <a:p>
            <a:pPr>
              <a:defRPr sz="1000" b="1">
                <a:solidFill>
                  <a:srgbClr val="F4E8D2"/>
                </a:solidFill>
                <a:latin typeface="Calibri"/>
              </a:defRPr>
            </a:pPr>
            <a:r>
              <a:t>• Full-Stack Web Twin</a:t>
            </a:r>
          </a:p>
          <a:p>
            <a:pPr>
              <a:defRPr sz="950">
                <a:solidFill>
                  <a:srgbClr val="C4B9A8"/>
                </a:solidFill>
                <a:latin typeface="Calibri"/>
              </a:defRPr>
            </a:pPr>
            <a:r>
              <a:t>Real-time React 19 dashboard with sub-second WebSocket telemetry and BSON locks.</a:t>
            </a:r>
          </a:p>
        </p:txBody>
      </p:sp>
      <p:sp>
        <p:nvSpPr>
          <p:cNvPr id="15" name="Rounded Rectangle 14"/>
          <p:cNvSpPr/>
          <p:nvPr/>
        </p:nvSpPr>
        <p:spPr>
          <a:xfrm>
            <a:off x="4370832" y="1719072"/>
            <a:ext cx="3456432" cy="3108960"/>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89120" y="1719072"/>
            <a:ext cx="3419856" cy="36576"/>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53712" y="1883664"/>
            <a:ext cx="3090672" cy="201168"/>
          </a:xfrm>
          <a:prstGeom prst="rect">
            <a:avLst/>
          </a:prstGeom>
          <a:noFill/>
        </p:spPr>
        <p:txBody>
          <a:bodyPr wrap="none" lIns="0" tIns="0" rIns="0" bIns="0">
            <a:spAutoFit/>
          </a:bodyPr>
          <a:lstStyle/>
          <a:p>
            <a:pPr>
              <a:defRPr sz="950" b="1">
                <a:solidFill>
                  <a:srgbClr val="60A5FA"/>
                </a:solidFill>
                <a:latin typeface="Calibri"/>
              </a:defRPr>
            </a:pPr>
            <a:r>
              <a:t>PHASE 02: NEXT STEPS</a:t>
            </a:r>
          </a:p>
        </p:txBody>
      </p:sp>
      <p:sp>
        <p:nvSpPr>
          <p:cNvPr id="18" name="TextBox 17"/>
          <p:cNvSpPr txBox="1"/>
          <p:nvPr/>
        </p:nvSpPr>
        <p:spPr>
          <a:xfrm>
            <a:off x="4553712" y="2121408"/>
            <a:ext cx="3090672" cy="347472"/>
          </a:xfrm>
          <a:prstGeom prst="rect">
            <a:avLst/>
          </a:prstGeom>
          <a:noFill/>
        </p:spPr>
        <p:txBody>
          <a:bodyPr wrap="square" lIns="0" tIns="0" rIns="0" bIns="0">
            <a:spAutoFit/>
          </a:bodyPr>
          <a:lstStyle/>
          <a:p>
            <a:pPr>
              <a:defRPr sz="1300" b="1">
                <a:solidFill>
                  <a:srgbClr val="F4E8D2"/>
                </a:solidFill>
                <a:latin typeface="Arial"/>
              </a:defRPr>
            </a:pPr>
            <a:r>
              <a:t>Edge AI &amp; Smart Signage</a:t>
            </a:r>
          </a:p>
        </p:txBody>
      </p:sp>
      <p:sp>
        <p:nvSpPr>
          <p:cNvPr id="19" name="TextBox 18"/>
          <p:cNvSpPr txBox="1"/>
          <p:nvPr/>
        </p:nvSpPr>
        <p:spPr>
          <a:xfrm>
            <a:off x="4553712" y="2560320"/>
            <a:ext cx="3090672" cy="658368"/>
          </a:xfrm>
          <a:prstGeom prst="rect">
            <a:avLst/>
          </a:prstGeom>
          <a:noFill/>
        </p:spPr>
        <p:txBody>
          <a:bodyPr wrap="square" lIns="0" tIns="0" rIns="0" bIns="0">
            <a:spAutoFit/>
          </a:bodyPr>
          <a:lstStyle/>
          <a:p>
            <a:pPr>
              <a:defRPr sz="1000" b="1">
                <a:solidFill>
                  <a:srgbClr val="F4E8D2"/>
                </a:solidFill>
                <a:latin typeface="Calibri"/>
              </a:defRPr>
            </a:pPr>
            <a:r>
              <a:t>• YOLOv8 Edge Vision</a:t>
            </a:r>
          </a:p>
          <a:p>
            <a:pPr>
              <a:defRPr sz="950">
                <a:solidFill>
                  <a:srgbClr val="C4B9A8"/>
                </a:solidFill>
                <a:latin typeface="Calibri"/>
              </a:defRPr>
            </a:pPr>
            <a:r>
              <a:t>Multi-stall camera tracking to eliminate individual per-bay ultrasonic hardware costs.</a:t>
            </a:r>
          </a:p>
        </p:txBody>
      </p:sp>
      <p:sp>
        <p:nvSpPr>
          <p:cNvPr id="20" name="TextBox 19"/>
          <p:cNvSpPr txBox="1"/>
          <p:nvPr/>
        </p:nvSpPr>
        <p:spPr>
          <a:xfrm>
            <a:off x="4553712" y="3273552"/>
            <a:ext cx="3090672" cy="658368"/>
          </a:xfrm>
          <a:prstGeom prst="rect">
            <a:avLst/>
          </a:prstGeom>
          <a:noFill/>
        </p:spPr>
        <p:txBody>
          <a:bodyPr wrap="square" lIns="0" tIns="0" rIns="0" bIns="0">
            <a:spAutoFit/>
          </a:bodyPr>
          <a:lstStyle/>
          <a:p>
            <a:pPr>
              <a:defRPr sz="1000" b="1">
                <a:solidFill>
                  <a:srgbClr val="F4E8D2"/>
                </a:solidFill>
                <a:latin typeface="Calibri"/>
              </a:defRPr>
            </a:pPr>
            <a:r>
              <a:t>• Dynamic Gate Signage</a:t>
            </a:r>
          </a:p>
          <a:p>
            <a:pPr>
              <a:defRPr sz="950">
                <a:solidFill>
                  <a:srgbClr val="C4B9A8"/>
                </a:solidFill>
                <a:latin typeface="Calibri"/>
              </a:defRPr>
            </a:pPr>
            <a:r>
              <a:t>Outdoor LED matrix boards showing real-time vacancy counts by zone and aisle.</a:t>
            </a:r>
          </a:p>
        </p:txBody>
      </p:sp>
      <p:sp>
        <p:nvSpPr>
          <p:cNvPr id="21" name="TextBox 20"/>
          <p:cNvSpPr txBox="1"/>
          <p:nvPr/>
        </p:nvSpPr>
        <p:spPr>
          <a:xfrm>
            <a:off x="4553712" y="3986784"/>
            <a:ext cx="3090672" cy="658368"/>
          </a:xfrm>
          <a:prstGeom prst="rect">
            <a:avLst/>
          </a:prstGeom>
          <a:noFill/>
        </p:spPr>
        <p:txBody>
          <a:bodyPr wrap="square" lIns="0" tIns="0" rIns="0" bIns="0">
            <a:spAutoFit/>
          </a:bodyPr>
          <a:lstStyle/>
          <a:p>
            <a:pPr>
              <a:defRPr sz="1000" b="1">
                <a:solidFill>
                  <a:srgbClr val="F4E8D2"/>
                </a:solidFill>
                <a:latin typeface="Calibri"/>
              </a:defRPr>
            </a:pPr>
            <a:r>
              <a:t>• Predictive Occupancy AI</a:t>
            </a:r>
          </a:p>
          <a:p>
            <a:pPr>
              <a:defRPr sz="950">
                <a:solidFill>
                  <a:srgbClr val="C4B9A8"/>
                </a:solidFill>
                <a:latin typeface="Calibri"/>
              </a:defRPr>
            </a:pPr>
            <a:r>
              <a:t>LSTM time-series forecasting model to predict peak rush hour slot availability.</a:t>
            </a:r>
          </a:p>
        </p:txBody>
      </p:sp>
      <p:sp>
        <p:nvSpPr>
          <p:cNvPr id="22" name="Rounded Rectangle 21"/>
          <p:cNvSpPr/>
          <p:nvPr/>
        </p:nvSpPr>
        <p:spPr>
          <a:xfrm>
            <a:off x="8010144" y="1719072"/>
            <a:ext cx="3456432" cy="3108960"/>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28432" y="1719072"/>
            <a:ext cx="3419856" cy="3657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93024" y="1883664"/>
            <a:ext cx="3090672" cy="201168"/>
          </a:xfrm>
          <a:prstGeom prst="rect">
            <a:avLst/>
          </a:prstGeom>
          <a:noFill/>
        </p:spPr>
        <p:txBody>
          <a:bodyPr wrap="none" lIns="0" tIns="0" rIns="0" bIns="0">
            <a:spAutoFit/>
          </a:bodyPr>
          <a:lstStyle/>
          <a:p>
            <a:pPr>
              <a:defRPr sz="950" b="1">
                <a:solidFill>
                  <a:srgbClr val="34D399"/>
                </a:solidFill>
                <a:latin typeface="Calibri"/>
              </a:defRPr>
            </a:pPr>
            <a:r>
              <a:t>PHASE 03: HORIZON</a:t>
            </a:r>
          </a:p>
        </p:txBody>
      </p:sp>
      <p:sp>
        <p:nvSpPr>
          <p:cNvPr id="25" name="TextBox 24"/>
          <p:cNvSpPr txBox="1"/>
          <p:nvPr/>
        </p:nvSpPr>
        <p:spPr>
          <a:xfrm>
            <a:off x="8193024" y="2121408"/>
            <a:ext cx="3090672" cy="347472"/>
          </a:xfrm>
          <a:prstGeom prst="rect">
            <a:avLst/>
          </a:prstGeom>
          <a:noFill/>
        </p:spPr>
        <p:txBody>
          <a:bodyPr wrap="square" lIns="0" tIns="0" rIns="0" bIns="0">
            <a:spAutoFit/>
          </a:bodyPr>
          <a:lstStyle/>
          <a:p>
            <a:pPr>
              <a:defRPr sz="1300" b="1">
                <a:solidFill>
                  <a:srgbClr val="F4E8D2"/>
                </a:solidFill>
                <a:latin typeface="Arial"/>
              </a:defRPr>
            </a:pPr>
            <a:r>
              <a:t>Municipal Smart City Mesh</a:t>
            </a:r>
          </a:p>
        </p:txBody>
      </p:sp>
      <p:sp>
        <p:nvSpPr>
          <p:cNvPr id="26" name="TextBox 25"/>
          <p:cNvSpPr txBox="1"/>
          <p:nvPr/>
        </p:nvSpPr>
        <p:spPr>
          <a:xfrm>
            <a:off x="8193024" y="2560320"/>
            <a:ext cx="3090672" cy="658368"/>
          </a:xfrm>
          <a:prstGeom prst="rect">
            <a:avLst/>
          </a:prstGeom>
          <a:noFill/>
        </p:spPr>
        <p:txBody>
          <a:bodyPr wrap="square" lIns="0" tIns="0" rIns="0" bIns="0">
            <a:spAutoFit/>
          </a:bodyPr>
          <a:lstStyle/>
          <a:p>
            <a:pPr>
              <a:defRPr sz="1000" b="1">
                <a:solidFill>
                  <a:srgbClr val="F4E8D2"/>
                </a:solidFill>
                <a:latin typeface="Calibri"/>
              </a:defRPr>
            </a:pPr>
            <a:r>
              <a:t>• Hyderabad ICCC Integration</a:t>
            </a:r>
          </a:p>
          <a:p>
            <a:pPr>
              <a:defRPr sz="950">
                <a:solidFill>
                  <a:srgbClr val="C4B9A8"/>
                </a:solidFill>
                <a:latin typeface="Calibri"/>
              </a:defRPr>
            </a:pPr>
            <a:r>
              <a:t>Federates campus telemetry with city-wide municipal transit control centers.</a:t>
            </a:r>
          </a:p>
        </p:txBody>
      </p:sp>
      <p:sp>
        <p:nvSpPr>
          <p:cNvPr id="27" name="TextBox 26"/>
          <p:cNvSpPr txBox="1"/>
          <p:nvPr/>
        </p:nvSpPr>
        <p:spPr>
          <a:xfrm>
            <a:off x="8193024" y="3273552"/>
            <a:ext cx="3090672" cy="658368"/>
          </a:xfrm>
          <a:prstGeom prst="rect">
            <a:avLst/>
          </a:prstGeom>
          <a:noFill/>
        </p:spPr>
        <p:txBody>
          <a:bodyPr wrap="square" lIns="0" tIns="0" rIns="0" bIns="0">
            <a:spAutoFit/>
          </a:bodyPr>
          <a:lstStyle/>
          <a:p>
            <a:pPr>
              <a:defRPr sz="1000" b="1">
                <a:solidFill>
                  <a:srgbClr val="F4E8D2"/>
                </a:solidFill>
                <a:latin typeface="Calibri"/>
              </a:defRPr>
            </a:pPr>
            <a:r>
              <a:t>• Smart EV Charging Schedulers</a:t>
            </a:r>
          </a:p>
          <a:p>
            <a:pPr>
              <a:defRPr sz="950">
                <a:solidFill>
                  <a:srgbClr val="C4B9A8"/>
                </a:solidFill>
                <a:latin typeface="Calibri"/>
              </a:defRPr>
            </a:pPr>
            <a:r>
              <a:t>Automated power allocation and booking for integrated electric vehicle charging stalls.</a:t>
            </a:r>
          </a:p>
        </p:txBody>
      </p:sp>
      <p:sp>
        <p:nvSpPr>
          <p:cNvPr id="28" name="TextBox 27"/>
          <p:cNvSpPr txBox="1"/>
          <p:nvPr/>
        </p:nvSpPr>
        <p:spPr>
          <a:xfrm>
            <a:off x="8193024" y="3986784"/>
            <a:ext cx="3090672" cy="658368"/>
          </a:xfrm>
          <a:prstGeom prst="rect">
            <a:avLst/>
          </a:prstGeom>
          <a:noFill/>
        </p:spPr>
        <p:txBody>
          <a:bodyPr wrap="square" lIns="0" tIns="0" rIns="0" bIns="0">
            <a:spAutoFit/>
          </a:bodyPr>
          <a:lstStyle/>
          <a:p>
            <a:pPr>
              <a:defRPr sz="1000" b="1">
                <a:solidFill>
                  <a:srgbClr val="F4E8D2"/>
                </a:solidFill>
                <a:latin typeface="Calibri"/>
              </a:defRPr>
            </a:pPr>
            <a:r>
              <a:t>• Civic Pre-Booking APIs</a:t>
            </a:r>
          </a:p>
          <a:p>
            <a:pPr>
              <a:defRPr sz="950">
                <a:solidFill>
                  <a:srgbClr val="C4B9A8"/>
                </a:solidFill>
                <a:latin typeface="Calibri"/>
              </a:defRPr>
            </a:pPr>
            <a:r>
              <a:t>Public open APIs for metro station parking and municipal parking apps.</a:t>
            </a:r>
          </a:p>
        </p:txBody>
      </p:sp>
      <p:sp>
        <p:nvSpPr>
          <p:cNvPr id="29" name="Rounded Rectangle 28"/>
          <p:cNvSpPr/>
          <p:nvPr/>
        </p:nvSpPr>
        <p:spPr>
          <a:xfrm>
            <a:off x="731520" y="4992624"/>
            <a:ext cx="10728655" cy="1133856"/>
          </a:xfrm>
          <a:prstGeom prst="roundRect">
            <a:avLst/>
          </a:prstGeom>
          <a:solidFill>
            <a:srgbClr val="181E29"/>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0976" y="5102352"/>
            <a:ext cx="5486400" cy="914400"/>
          </a:xfrm>
          <a:prstGeom prst="rect">
            <a:avLst/>
          </a:prstGeom>
          <a:noFill/>
        </p:spPr>
        <p:txBody>
          <a:bodyPr wrap="square" lIns="0" tIns="0" rIns="0" bIns="0">
            <a:spAutoFit/>
          </a:bodyPr>
          <a:lstStyle/>
          <a:p>
            <a:pPr>
              <a:defRPr sz="1600" b="1">
                <a:solidFill>
                  <a:srgbClr val="F4E8D2"/>
                </a:solidFill>
                <a:latin typeface="Arial"/>
              </a:defRPr>
            </a:pPr>
            <a:r>
              <a:t>Thank You | Questions &amp; Discussion</a:t>
            </a:r>
          </a:p>
          <a:p>
            <a:pPr>
              <a:defRPr sz="1050">
                <a:solidFill>
                  <a:srgbClr val="C4B9A8"/>
                </a:solidFill>
                <a:latin typeface="Calibri"/>
              </a:defRPr>
            </a:pPr>
            <a:r>
              <a:t>Smart Parking Management System (Problem Statement 36)</a:t>
            </a:r>
            <a:br/>
            <a:r>
              <a:t>Engineered for high-efficiency urban transit and sustainable smart campus infrastructure.</a:t>
            </a:r>
          </a:p>
        </p:txBody>
      </p:sp>
      <p:sp>
        <p:nvSpPr>
          <p:cNvPr id="31" name="TextBox 30"/>
          <p:cNvSpPr txBox="1"/>
          <p:nvPr/>
        </p:nvSpPr>
        <p:spPr>
          <a:xfrm>
            <a:off x="6583680" y="5102352"/>
            <a:ext cx="4663440" cy="914400"/>
          </a:xfrm>
          <a:prstGeom prst="rect">
            <a:avLst/>
          </a:prstGeom>
          <a:noFill/>
        </p:spPr>
        <p:txBody>
          <a:bodyPr wrap="square" lIns="0" tIns="0" rIns="0" bIns="0">
            <a:spAutoFit/>
          </a:bodyPr>
          <a:lstStyle/>
          <a:p>
            <a:pPr>
              <a:defRPr sz="950" b="1">
                <a:solidFill>
                  <a:srgbClr val="F4E8D2"/>
                </a:solidFill>
                <a:latin typeface="Calibri"/>
              </a:defRPr>
            </a:pPr>
            <a:r>
              <a:t>PROJECT AUTHORS (AIML - F | CSM - AIML)</a:t>
            </a:r>
          </a:p>
          <a:p>
            <a:pPr>
              <a:defRPr sz="1000">
                <a:solidFill>
                  <a:srgbClr val="C4B9A8"/>
                </a:solidFill>
                <a:latin typeface="Calibri"/>
              </a:defRPr>
            </a:pPr>
            <a:r>
              <a:t>YALAMADDI PRASHANTH (25MVCSMR0538) | M.B. WILSON RAJ (25MVCSMR0507)</a:t>
            </a:r>
            <a:br/>
            <a:r>
              <a:t>SAI DIKSHIT REDDY (25MVCSMR0478) | BODINI LOKESH GOUD (25MVCSMR0473)</a:t>
            </a:r>
            <a:br/>
            <a:r>
              <a:t>Malla Reddy Vishwavidyapeeth (MRTC), Hyderabad 500100</a:t>
            </a:r>
          </a:p>
        </p:txBody>
      </p:sp>
      <p:sp>
        <p:nvSpPr>
          <p:cNvPr id="32" name="Rectangle 31"/>
          <p:cNvSpPr/>
          <p:nvPr/>
        </p:nvSpPr>
        <p:spPr>
          <a:xfrm>
            <a:off x="731520" y="6254496"/>
            <a:ext cx="10728655" cy="13716"/>
          </a:xfrm>
          <a:prstGeom prst="rect">
            <a:avLst/>
          </a:prstGeom>
          <a:solidFill>
            <a:srgbClr val="384458"/>
          </a:solidFill>
          <a:ln w="12700">
            <a:solidFill>
              <a:srgbClr val="384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6327648"/>
            <a:ext cx="7772400" cy="256032"/>
          </a:xfrm>
          <a:prstGeom prst="rect">
            <a:avLst/>
          </a:prstGeom>
          <a:noFill/>
        </p:spPr>
        <p:txBody>
          <a:bodyPr wrap="none" lIns="0" tIns="0">
            <a:spAutoFit/>
          </a:bodyPr>
          <a:lstStyle/>
          <a:p>
            <a:pPr>
              <a:defRPr sz="950" b="1">
                <a:solidFill>
                  <a:srgbClr val="C4B9A8"/>
                </a:solidFill>
                <a:latin typeface="Calibri"/>
              </a:defRPr>
            </a:pPr>
            <a:r>
              <a:t>PROBLEM 36 | SMART PARKING MANAGEMENT SYSTEM</a:t>
            </a:r>
          </a:p>
        </p:txBody>
      </p:sp>
      <p:sp>
        <p:nvSpPr>
          <p:cNvPr id="34" name="TextBox 33"/>
          <p:cNvSpPr txBox="1"/>
          <p:nvPr/>
        </p:nvSpPr>
        <p:spPr>
          <a:xfrm>
            <a:off x="10058400" y="6327648"/>
            <a:ext cx="1401775" cy="256032"/>
          </a:xfrm>
          <a:prstGeom prst="rect">
            <a:avLst/>
          </a:prstGeom>
          <a:noFill/>
        </p:spPr>
        <p:txBody>
          <a:bodyPr wrap="none" rIns="0" tIns="0">
            <a:spAutoFit/>
          </a:bodyPr>
          <a:lstStyle/>
          <a:p>
            <a:pPr algn="r">
              <a:defRPr sz="950" b="1">
                <a:solidFill>
                  <a:srgbClr val="F4E8D2"/>
                </a:solidFill>
                <a:latin typeface="Calibri"/>
              </a:defRPr>
            </a:pPr>
            <a:r>
              <a:t>07 / 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